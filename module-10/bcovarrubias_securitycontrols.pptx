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7A0EF-4205-A8C4-8E8C-679BEE649851}" v="1859" dt="2026-07-25T23:59:14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04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38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85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26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2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1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80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444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0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26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9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904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nyk.io/articles/securing-source-code-repositories/" TargetMode="External"/><Relationship Id="rId2" Type="http://schemas.openxmlformats.org/officeDocument/2006/relationships/hyperlink" Target="https://get.assembla.com/blog/source-code-security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ea typeface="Calibri Light"/>
                <a:cs typeface="Calibri Light"/>
              </a:rPr>
              <a:t>Security Controls in Shared Source Code Repositories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Calibri Light"/>
                <a:cs typeface="Calibri Light"/>
              </a:rPr>
              <a:t>Module 10.2 - CSD380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Brayan Covarrubias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4BF0-866D-F1CC-5BD5-FB8126FD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Source Code Security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E461-97D1-0987-851B-D84869A70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 b="1" dirty="0">
                <a:ea typeface="Calibri"/>
                <a:cs typeface="Calibri"/>
              </a:rPr>
              <a:t>Source code</a:t>
            </a:r>
            <a:r>
              <a:rPr lang="en-US" sz="1800">
                <a:ea typeface="Calibri"/>
                <a:cs typeface="Calibri"/>
              </a:rPr>
              <a:t> contains – business logic, proprietary algorithms, and embedded secrets</a:t>
            </a:r>
            <a:endParaRPr lang="en-US" sz="1800" dirty="0">
              <a:ea typeface="Calibri"/>
              <a:cs typeface="Calibri"/>
            </a:endParaRPr>
          </a:p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A breach can mean a variety of consequences 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IP theft</a:t>
            </a:r>
            <a:endParaRPr lang="en-US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Data exposure</a:t>
            </a:r>
            <a:endParaRPr lang="en-US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Injected vulnerabilities</a:t>
            </a:r>
            <a:endParaRPr lang="en-US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Reputational damage and legal liability</a:t>
            </a:r>
            <a:endParaRPr lang="en-US" sz="1600" dirty="0">
              <a:ea typeface="Calibri"/>
              <a:cs typeface="Calibri"/>
            </a:endParaRPr>
          </a:p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A </a:t>
            </a:r>
            <a:r>
              <a:rPr lang="en-US" sz="1800" b="1">
                <a:ea typeface="Calibri"/>
                <a:cs typeface="Calibri"/>
              </a:rPr>
              <a:t>core</a:t>
            </a:r>
            <a:r>
              <a:rPr lang="en-US" sz="1800">
                <a:ea typeface="Calibri"/>
                <a:cs typeface="Calibri"/>
              </a:rPr>
              <a:t> part of software supply chain security, protects against unauthorized changes, malicious injections</a:t>
            </a:r>
            <a:endParaRPr lang="en-US" sz="160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Attacks are increasing sharply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dirty="0">
                <a:ea typeface="Calibri"/>
                <a:cs typeface="Calibri"/>
              </a:rPr>
              <a:t>Not limited only to enterprise, ~43% of cyberattacks target small </a:t>
            </a:r>
            <a:r>
              <a:rPr lang="en-US" sz="1600">
                <a:ea typeface="Calibri"/>
                <a:cs typeface="Calibri"/>
              </a:rPr>
              <a:t>businesses</a:t>
            </a: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 panose="020F0502020204030204"/>
              <a:cs typeface="Calibri" panose="020F0502020204030204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177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7A3C-75A4-BF24-AE93-C808F155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0CF3-626A-0D36-9726-696B5AD6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Security Access Controls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52E1-1B02-A152-A141-F063E038C7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Implement security controls, such as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Strong authentication for repo access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Enforce role-based access control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Use least-privilege principles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Routinely review and update user permissions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dirty="0">
                <a:ea typeface="Calibri"/>
                <a:cs typeface="Calibri"/>
              </a:rPr>
              <a:t>Ideally tie it to a </a:t>
            </a:r>
            <a:r>
              <a:rPr lang="en-US" sz="1600">
                <a:ea typeface="Calibri"/>
                <a:cs typeface="Calibri"/>
              </a:rPr>
              <a:t>central directory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Require 2FA or MFA for repo access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Consider SSO and MFA for smoother UX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Restrict access to only what's necessary for each role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Pair 2FA with location-based restrictions, if remote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71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636E-4E6E-18DD-F76A-C3DED238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93E9-5988-DF1D-F214-53B15B30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Verify and Review Every Change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455B-6EEB-2E7E-15EA-0F147ADDE0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Confirm authenticity and prevent unauthorized modifications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Enforce code signing on commits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Verify cryptographic signatures</a:t>
            </a:r>
            <a:endParaRPr lang="en-US"/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Require code reviews before merging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No single person should be able to push changes to production without approval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 dirty="0">
                <a:ea typeface="Calibri"/>
                <a:cs typeface="Calibri"/>
              </a:rPr>
              <a:t>Maintain clear version history, whether </a:t>
            </a:r>
            <a:r>
              <a:rPr lang="en-US" sz="1800">
                <a:ea typeface="Calibri"/>
                <a:cs typeface="Calibri"/>
              </a:rPr>
              <a:t>centralized</a:t>
            </a:r>
            <a:r>
              <a:rPr lang="en-US" sz="1800" dirty="0">
                <a:ea typeface="Calibri"/>
                <a:cs typeface="Calibri"/>
              </a:rPr>
              <a:t> or distributed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1313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7F33-EC92-64A6-018C-578B49E4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2252-08BD-8B83-F428-4D79661F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Keep Secrets Out of Your Code</a:t>
            </a:r>
            <a:endParaRPr lang="en-US" sz="4000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BB0B-DD1C-2154-05C3-390983BE4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 b="1" dirty="0">
                <a:ea typeface="Calibri"/>
                <a:cs typeface="Calibri"/>
              </a:rPr>
              <a:t>NEVER </a:t>
            </a:r>
            <a:r>
              <a:rPr lang="en-US" sz="1800">
                <a:ea typeface="Calibri"/>
                <a:cs typeface="Calibri"/>
              </a:rPr>
              <a:t>hardcode API keys, passwords, credentials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Use dedicated secrets management system to store and manage sensitive data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 dirty="0">
                <a:ea typeface="Calibri"/>
                <a:cs typeface="Calibri"/>
              </a:rPr>
              <a:t>Deploy encryption tools to protect configs, passwords, and </a:t>
            </a:r>
            <a:r>
              <a:rPr lang="en-US" sz="1800">
                <a:ea typeface="Calibri"/>
                <a:cs typeface="Calibri"/>
              </a:rPr>
              <a:t>keys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 dirty="0">
                <a:ea typeface="Calibri"/>
                <a:cs typeface="Calibri"/>
              </a:rPr>
              <a:t>Encr</a:t>
            </a:r>
            <a:r>
              <a:rPr lang="en-US" sz="1800">
                <a:ea typeface="Calibri"/>
                <a:cs typeface="Calibri"/>
              </a:rPr>
              <a:t>ypt in transit (SSL/TLS) and at rest for cloud-hosted repos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367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EBE9-E4F9-A91F-AE61-2392000E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CE2A-79AF-C8C0-9572-A703F521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Catch Vulnerabilities Before Shipping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B5E7-5E30-6AA5-0CE1-5D87ED2A56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Use static analysis (SAST) tools to analyze code for vulnerabilities without executing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Use tools to detect vulnerabilities in open-source dependencies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 dirty="0">
                <a:ea typeface="Calibri"/>
                <a:cs typeface="Calibri"/>
              </a:rPr>
              <a:t>Stay updated on security </a:t>
            </a:r>
            <a:r>
              <a:rPr lang="en-US" sz="1800">
                <a:ea typeface="Calibri"/>
                <a:cs typeface="Calibri"/>
              </a:rPr>
              <a:t>advisories for libraries and frameworks in use</a:t>
            </a:r>
            <a:endParaRPr lang="en-US" sz="1800" dirty="0">
              <a:ea typeface="Calibri"/>
              <a:cs typeface="Calibri"/>
            </a:endParaRPr>
          </a:p>
          <a:p>
            <a:pPr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243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9D20-A58D-87EA-A97F-D5AE7EE7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A6E7-D6A6-37E8-C3EF-1E1D6910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Policy and Training Culture</a:t>
            </a:r>
            <a:endParaRPr lang="en-US" sz="4000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2C7F-06ED-CA04-1AB2-336F209474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Enforce a clear source code security and access-control policy, ensure coverage over -</a:t>
            </a:r>
            <a:endParaRPr lang="en-US" sz="18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Code review processes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Vulnerability handling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Integrating third-party libraries</a:t>
            </a:r>
            <a:endParaRPr lang="en-US" sz="1600" dirty="0">
              <a:ea typeface="Calibri"/>
              <a:cs typeface="Calibri"/>
            </a:endParaRPr>
          </a:p>
          <a:p>
            <a:pPr>
              <a:buChar char="-"/>
            </a:pPr>
            <a:r>
              <a:rPr lang="en-US" sz="1800" dirty="0">
                <a:ea typeface="Calibri"/>
                <a:cs typeface="Calibri"/>
              </a:rPr>
              <a:t>Educate </a:t>
            </a:r>
            <a:r>
              <a:rPr lang="en-US" sz="1800">
                <a:ea typeface="Calibri"/>
                <a:cs typeface="Calibri"/>
              </a:rPr>
              <a:t>developers</a:t>
            </a:r>
            <a:r>
              <a:rPr lang="en-US" sz="1800" dirty="0">
                <a:ea typeface="Calibri"/>
                <a:cs typeface="Calibri"/>
              </a:rPr>
              <a:t> and contractors on security best practices and its importance</a:t>
            </a:r>
          </a:p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Secure endpoints, avoid public Wi-Fi, keep systems updated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840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A313-8B4B-389F-1741-CCD506FE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1750-BCA7-DD02-721B-A2755693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Responding to a Breach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82DD-8D25-F7E4-9B88-2740642494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>
                <a:ea typeface="Calibri"/>
                <a:cs typeface="Calibri"/>
              </a:rPr>
              <a:t>If a breach occurs, switch to an offensive - </a:t>
            </a:r>
            <a:r>
              <a:rPr lang="en-US" sz="1800" b="1">
                <a:ea typeface="Calibri"/>
                <a:cs typeface="Calibri"/>
              </a:rPr>
              <a:t>contain it immediately</a:t>
            </a:r>
            <a:endParaRPr lang="en-US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Isolate systems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 dirty="0">
                <a:ea typeface="Calibri"/>
                <a:cs typeface="Calibri"/>
              </a:rPr>
              <a:t>Block </a:t>
            </a:r>
            <a:r>
              <a:rPr lang="en-US" sz="1600">
                <a:ea typeface="Calibri"/>
                <a:cs typeface="Calibri"/>
              </a:rPr>
              <a:t>suspicious access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Investigate access logs</a:t>
            </a:r>
            <a:endParaRPr lang="en-US" sz="16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Notify stakeholders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>
                <a:ea typeface="Calibri"/>
                <a:cs typeface="Calibri"/>
              </a:rPr>
              <a:t>Apply patches on exploited vulnerabilities, review and strengthen access controls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r>
              <a:rPr lang="en-US" sz="1800" dirty="0">
                <a:ea typeface="Calibri"/>
                <a:cs typeface="Calibri"/>
              </a:rPr>
              <a:t>Continue to monitor and </a:t>
            </a:r>
            <a:r>
              <a:rPr lang="en-US" sz="1800">
                <a:ea typeface="Calibri"/>
                <a:cs typeface="Calibri"/>
              </a:rPr>
              <a:t>conduct a post-incident review</a:t>
            </a: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386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F08A-6561-276A-F176-88F154E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EEF9-E60A-06CA-F185-944D5799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Resources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6AE7F-25E3-6DE3-9D87-9D577C2A5B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har char="-"/>
            </a:pPr>
            <a:r>
              <a:rPr lang="en-US" sz="1800" b="1" dirty="0" err="1">
                <a:ea typeface="Calibri"/>
                <a:cs typeface="Calibri"/>
              </a:rPr>
              <a:t>Assembla</a:t>
            </a:r>
            <a:r>
              <a:rPr lang="en-US" sz="1800" b="1" dirty="0">
                <a:ea typeface="Calibri"/>
                <a:cs typeface="Calibri"/>
              </a:rPr>
              <a:t> </a:t>
            </a:r>
            <a:r>
              <a:rPr lang="en-US" sz="1800" dirty="0">
                <a:ea typeface="Calibri"/>
                <a:cs typeface="Calibri"/>
              </a:rPr>
              <a:t>- </a:t>
            </a:r>
            <a:r>
              <a:rPr lang="en-US" sz="1800" dirty="0">
                <a:ea typeface="+mn-lt"/>
                <a:cs typeface="+mn-lt"/>
                <a:hlinkClick r:id="rId2"/>
              </a:rPr>
              <a:t>https://get.assembla.com/blog/source-code-security/</a:t>
            </a:r>
            <a:endParaRPr lang="en-US" sz="1800" dirty="0">
              <a:ea typeface="Calibri"/>
              <a:cs typeface="Calibri"/>
            </a:endParaRPr>
          </a:p>
          <a:p>
            <a:pPr>
              <a:buChar char="-"/>
            </a:pPr>
            <a:r>
              <a:rPr lang="en-US" sz="1800" b="1">
                <a:ea typeface="Calibri"/>
                <a:cs typeface="Calibri"/>
              </a:rPr>
              <a:t>Snyk </a:t>
            </a:r>
            <a:r>
              <a:rPr lang="en-US" sz="1800">
                <a:ea typeface="Calibri"/>
                <a:cs typeface="Calibri"/>
              </a:rPr>
              <a:t>- </a:t>
            </a:r>
            <a:r>
              <a:rPr lang="en-US" sz="1800" dirty="0">
                <a:ea typeface="+mn-lt"/>
                <a:cs typeface="+mn-lt"/>
                <a:hlinkClick r:id="rId3"/>
              </a:rPr>
              <a:t>https://snyk.io/articles/securing-source-code-repositories/</a:t>
            </a: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>
              <a:ea typeface="Calibri"/>
              <a:cs typeface="Calibri"/>
            </a:endParaRPr>
          </a:p>
          <a:p>
            <a:pPr>
              <a:buFont typeface="Calibri" panose="020F0502020204030204" pitchFamily="34" charset="0"/>
              <a:buChar char="-"/>
            </a:pP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99626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Security Controls in Shared Source Code Repositories</vt:lpstr>
      <vt:lpstr>Source Code Security Matters</vt:lpstr>
      <vt:lpstr>Security Access Controls</vt:lpstr>
      <vt:lpstr>Verify and Review Every Change</vt:lpstr>
      <vt:lpstr>Keep Secrets Out of Your Code</vt:lpstr>
      <vt:lpstr>Catch Vulnerabilities Before Shipping</vt:lpstr>
      <vt:lpstr>Policy and Training Culture</vt:lpstr>
      <vt:lpstr>Responding to a Breach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262</cp:revision>
  <dcterms:created xsi:type="dcterms:W3CDTF">2026-07-25T22:47:36Z</dcterms:created>
  <dcterms:modified xsi:type="dcterms:W3CDTF">2026-07-26T00:02:05Z</dcterms:modified>
</cp:coreProperties>
</file>