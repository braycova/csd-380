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2797ED-D043-651A-562B-BECF295188A7}" v="1541" dt="2026-07-12T23:05:52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26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68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130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293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4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423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8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01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309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469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81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rduty.com/resources/incident-management-response/learn/call-rotations-schedules/" TargetMode="External"/><Relationship Id="rId2" Type="http://schemas.openxmlformats.org/officeDocument/2006/relationships/hyperlink" Target="https://devops.com/on-call-rotation-best-practices-reducing-burnout-and-improving-response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re.google/workbook/on-cal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Pager Rotation Duties</a:t>
            </a:r>
            <a:br>
              <a:rPr lang="en-US" dirty="0"/>
            </a:br>
            <a:r>
              <a:rPr lang="en-US" sz="2000"/>
              <a:t>Module 7.2 - CSD380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Brayan Covarrubias</a:t>
            </a:r>
            <a:endParaRPr lang="en-US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06E4-609E-846E-A45C-3F456E61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Pager Rotation?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B75F-5B96-060D-8FD5-847BD204FF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A pre-defined schedule to assign developer responsibility to 24/7 incident </a:t>
            </a:r>
            <a:r>
              <a:rPr lang="en-US">
                <a:ea typeface="Calibri"/>
                <a:cs typeface="Calibri"/>
              </a:rPr>
              <a:t>response</a:t>
            </a:r>
          </a:p>
          <a:p>
            <a:r>
              <a:rPr lang="en-US" dirty="0">
                <a:ea typeface="Calibri"/>
                <a:cs typeface="Calibri"/>
              </a:rPr>
              <a:t>Ensures a quali</a:t>
            </a:r>
            <a:r>
              <a:rPr lang="en-US">
                <a:ea typeface="Calibri"/>
                <a:cs typeface="Calibri"/>
              </a:rPr>
              <a:t>fied engineer is always available to respond</a:t>
            </a:r>
          </a:p>
          <a:p>
            <a:r>
              <a:rPr lang="en-US" b="1">
                <a:ea typeface="Calibri"/>
                <a:cs typeface="Calibri"/>
              </a:rPr>
              <a:t>On-call – </a:t>
            </a:r>
            <a:r>
              <a:rPr lang="en-US">
                <a:ea typeface="Calibri"/>
                <a:cs typeface="Calibri"/>
              </a:rPr>
              <a:t>the human escalation step when automation is unable to resolve</a:t>
            </a:r>
          </a:p>
          <a:p>
            <a:r>
              <a:rPr lang="en-US">
                <a:ea typeface="Calibri"/>
                <a:cs typeface="Calibri"/>
              </a:rPr>
              <a:t>Protects systems, distributes workload fairly among teams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If done correctly – it can otherwise destroy team morale and drive engineers out</a:t>
            </a:r>
          </a:p>
        </p:txBody>
      </p:sp>
    </p:spTree>
    <p:extLst>
      <p:ext uri="{BB962C8B-B14F-4D97-AF65-F5344CB8AC3E}">
        <p14:creationId xmlns:p14="http://schemas.microsoft.com/office/powerpoint/2010/main" val="2363664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27095-D58D-B5E1-DD0B-BEF2C1C5D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B9DA5-023D-FFCB-34A9-E4B90939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On-Call Rotations Break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4A0EB-DC43-7A87-2EF6-4ABBA64217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Alert fatigue from frequent low-signal, non-actionable alerts</a:t>
            </a:r>
          </a:p>
          <a:p>
            <a:r>
              <a:rPr lang="en-US" dirty="0">
                <a:ea typeface="Calibri"/>
                <a:cs typeface="Calibri"/>
              </a:rPr>
              <a:t>Unbalance rotations, from teams under 5 getting </a:t>
            </a:r>
            <a:r>
              <a:rPr lang="en-US" dirty="0" err="1">
                <a:ea typeface="Calibri"/>
                <a:cs typeface="Calibri"/>
              </a:rPr>
              <a:t>overpaged</a:t>
            </a:r>
            <a:r>
              <a:rPr lang="en-US" dirty="0">
                <a:ea typeface="Calibri"/>
                <a:cs typeface="Calibri"/>
              </a:rPr>
              <a:t> to knowledge "silos"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"Silos" refer to knowledge or insight being </a:t>
            </a:r>
            <a:r>
              <a:rPr lang="en-US">
                <a:ea typeface="Calibri"/>
                <a:cs typeface="Calibri"/>
              </a:rPr>
              <a:t>confined to teams or individuals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Missing runbooks, which forces improv under pressure, raising stress</a:t>
            </a:r>
          </a:p>
          <a:p>
            <a:r>
              <a:rPr lang="en-US" dirty="0">
                <a:ea typeface="Calibri"/>
                <a:cs typeface="Calibri"/>
              </a:rPr>
              <a:t>No clear line </a:t>
            </a:r>
            <a:r>
              <a:rPr lang="en-US">
                <a:ea typeface="Calibri"/>
                <a:cs typeface="Calibri"/>
              </a:rPr>
              <a:t>between on-call and project work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6584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8111-72C5-ECB3-BA2D-A61D27AB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90124-0CDD-224E-8F3F-B549F39D3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</a:t>
            </a:r>
            <a:r>
              <a:rPr lang="en-US"/>
              <a:t>Rotation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1BF44-0FBD-433C-03D0-92ADD390AC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Calibri"/>
                <a:cs typeface="Calibri"/>
              </a:rPr>
              <a:t>Weekly rotation with a primary + secondary backup – best for single-</a:t>
            </a:r>
            <a:r>
              <a:rPr lang="en-US" dirty="0" err="1">
                <a:ea typeface="Calibri"/>
                <a:cs typeface="Calibri"/>
              </a:rPr>
              <a:t>timezone</a:t>
            </a:r>
            <a:r>
              <a:rPr lang="en-US" dirty="0">
                <a:ea typeface="Calibri"/>
                <a:cs typeface="Calibri"/>
              </a:rPr>
              <a:t> teams</a:t>
            </a:r>
          </a:p>
          <a:p>
            <a:r>
              <a:rPr lang="en-US">
                <a:ea typeface="Calibri"/>
                <a:cs typeface="Calibri"/>
              </a:rPr>
              <a:t>"Follow-the-sun" model, involving regional coverage during daylight hours – best for 3+ time zone teams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Proven to cut engineer on-call time up to ~67%</a:t>
            </a:r>
          </a:p>
          <a:p>
            <a:r>
              <a:rPr lang="en-US">
                <a:ea typeface="Calibri"/>
                <a:cs typeface="Calibri"/>
              </a:rPr>
              <a:t>Round robin model, involving full team cycles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Helps </a:t>
            </a:r>
            <a:r>
              <a:rPr lang="en-US">
                <a:ea typeface="Calibri"/>
                <a:cs typeface="Calibri"/>
              </a:rPr>
              <a:t>broaden incident-response knowledge team-wide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Important to establish in every rotation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A team cadence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Primary/secondary backup roles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Time-zone coverage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Escalation policy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Overrides – when needed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3354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BFA48-DE14-1550-9582-53BF291DF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96CA-16D8-6DF7-6B31-5BFC6D448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Practices for Rotations 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269C4-B51C-4D31-9AF1-A4D2AFE4D2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Cap incident </a:t>
            </a:r>
            <a:r>
              <a:rPr lang="en-US">
                <a:ea typeface="Calibri"/>
                <a:cs typeface="Calibri"/>
              </a:rPr>
              <a:t>loads per 12-hour shifts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Retire alerts if no action has been taken in 90+ days</a:t>
            </a:r>
          </a:p>
          <a:p>
            <a:r>
              <a:rPr lang="en-US">
                <a:ea typeface="Calibri"/>
                <a:cs typeface="Calibri"/>
              </a:rPr>
              <a:t>Establish handoffs with proper team meetings and share documentation</a:t>
            </a:r>
          </a:p>
          <a:p>
            <a:r>
              <a:rPr lang="en-US">
                <a:ea typeface="Calibri"/>
                <a:cs typeface="Calibri"/>
              </a:rPr>
              <a:t>Maintain runbooks for top incident types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Runbooks here lean towards quick checklists, not full documentation</a:t>
            </a:r>
          </a:p>
          <a:p>
            <a:r>
              <a:rPr lang="en-US">
                <a:ea typeface="Calibri"/>
                <a:cs typeface="Calibri"/>
              </a:rPr>
              <a:t>Use shadow rotations for new engineers before they carry solo</a:t>
            </a:r>
          </a:p>
          <a:p>
            <a:r>
              <a:rPr lang="en-US">
                <a:ea typeface="Calibri"/>
                <a:cs typeface="Calibri"/>
              </a:rPr>
              <a:t>Run simulated incident drills to build debugging confidence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9484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B026-89D5-0235-4890-8F67A5A4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7412B-5FDA-56A0-F641-06B4396E9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Rotation Culture 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627C5-C366-7A99-72A3-9AC21858D0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On-call time should be compensated, whether through direct pay or time off</a:t>
            </a:r>
          </a:p>
          <a:p>
            <a:r>
              <a:rPr lang="en-US">
                <a:ea typeface="Calibri"/>
                <a:cs typeface="Calibri"/>
              </a:rPr>
              <a:t>Shifts should be capped at 12-hours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Continuous</a:t>
            </a:r>
            <a:r>
              <a:rPr lang="en-US" dirty="0">
                <a:ea typeface="Calibri"/>
                <a:cs typeface="Calibri"/>
              </a:rPr>
              <a:t> 24-hour on-call </a:t>
            </a:r>
            <a:r>
              <a:rPr lang="en-US">
                <a:ea typeface="Calibri"/>
                <a:cs typeface="Calibri"/>
              </a:rPr>
              <a:t>shifts aren't sustainable</a:t>
            </a:r>
          </a:p>
          <a:p>
            <a:r>
              <a:rPr lang="en-US">
                <a:ea typeface="Calibri"/>
                <a:cs typeface="Calibri"/>
              </a:rPr>
              <a:t>Maintain at least minimum staffing for 24/7 coverage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Use automated scheduling, easy swaps, support for breaks, support for part-time work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Make developers feel safe to </a:t>
            </a:r>
            <a:r>
              <a:rPr lang="en-US">
                <a:ea typeface="Calibri"/>
                <a:cs typeface="Calibri"/>
              </a:rPr>
              <a:t>escalate when needed, separate from performance reviews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8254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0F17C-CA2A-4CA6-9358-05C654E6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629B9-F577-AF8E-7A3B-11BC7D7EC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4E93-F048-FE93-3A7A-74E6925A6A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~2-3 actionable </a:t>
            </a:r>
            <a:r>
              <a:rPr lang="en-US">
                <a:ea typeface="Calibri"/>
                <a:cs typeface="Calibri"/>
              </a:rPr>
              <a:t>incidents per 12-hour shift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Enforce burnout prevention by capping shifts, ensuring staff minimums, and compensate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Strong on-call programs result in faster responses, better work, and engineer trust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542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A5147-6192-CFE9-C8BE-366D0A5CE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F8C8-8D53-4483-C8D1-5AF96D3B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D0D8C-B5BC-8B2C-3E3A-862BF14D0F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Calibri"/>
                <a:cs typeface="Calibri"/>
              </a:rPr>
              <a:t>DevOps.com - </a:t>
            </a:r>
            <a:br>
              <a:rPr lang="en-US" b="1" dirty="0">
                <a:ea typeface="Calibri"/>
                <a:cs typeface="Calibri"/>
              </a:rPr>
            </a:br>
            <a:r>
              <a:rPr lang="en-US" dirty="0">
                <a:ea typeface="+mn-lt"/>
                <a:cs typeface="+mn-lt"/>
                <a:hlinkClick r:id="rId2"/>
              </a:rPr>
              <a:t>https://devops.com/on-call-rotation-best-practices-reducing-burnout-and-improving-response/</a:t>
            </a:r>
            <a:endParaRPr lang="en-US" b="1" dirty="0">
              <a:ea typeface="Calibri"/>
              <a:cs typeface="Calibri"/>
            </a:endParaRPr>
          </a:p>
          <a:p>
            <a:r>
              <a:rPr lang="en-US" b="1">
                <a:ea typeface="Calibri"/>
                <a:cs typeface="Calibri"/>
              </a:rPr>
              <a:t>PagerDuty - </a:t>
            </a:r>
            <a:r>
              <a:rPr lang="en-US" dirty="0">
                <a:ea typeface="+mn-lt"/>
                <a:cs typeface="+mn-lt"/>
                <a:hlinkClick r:id="rId3"/>
              </a:rPr>
              <a:t>https://www.pagerduty.com/resources/incident-management-response/learn/call-rotations-schedules/</a:t>
            </a:r>
          </a:p>
          <a:p>
            <a:r>
              <a:rPr lang="en-US" b="1">
                <a:ea typeface="Calibri"/>
                <a:cs typeface="Calibri"/>
              </a:rPr>
              <a:t>Google SRE -</a:t>
            </a:r>
            <a:br>
              <a:rPr lang="en-US" b="1" dirty="0">
                <a:ea typeface="Calibri"/>
                <a:cs typeface="Calibri"/>
              </a:rPr>
            </a:br>
            <a:r>
              <a:rPr lang="en-US" dirty="0">
                <a:ea typeface="+mn-lt"/>
                <a:cs typeface="+mn-lt"/>
                <a:hlinkClick r:id="rId4"/>
              </a:rPr>
              <a:t>https://sre.google/workbook/on-call/</a:t>
            </a:r>
            <a:endParaRPr lang="en-US" b="1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6601607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BohoVogueVTI</vt:lpstr>
      <vt:lpstr>Pager Rotation Duties Module 7.2 - CSD380</vt:lpstr>
      <vt:lpstr>What is Pager Rotation?</vt:lpstr>
      <vt:lpstr>Why On-Call Rotations Break Down</vt:lpstr>
      <vt:lpstr>Choosing a Rotation Model</vt:lpstr>
      <vt:lpstr>Best Practices for Rotations </vt:lpstr>
      <vt:lpstr>Rotation Culture </vt:lpstr>
      <vt:lpstr>Additional Points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236</cp:revision>
  <dcterms:created xsi:type="dcterms:W3CDTF">2026-07-12T21:22:24Z</dcterms:created>
  <dcterms:modified xsi:type="dcterms:W3CDTF">2026-07-12T23:06:54Z</dcterms:modified>
</cp:coreProperties>
</file>