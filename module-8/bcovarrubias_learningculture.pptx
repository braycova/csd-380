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BC448-2504-7437-0A63-ED2B2CB18113}" v="43" dt="2026-07-18T05:59:18.743"/>
    <p1510:client id="{D07DC1F3-D9A4-9DBB-8237-43C6D8C98FAF}" v="2" dt="2026-07-18T03:33:33.121"/>
    <p1510:client id="{E28A481E-7031-41EB-9634-50DF8D87E222}" v="1610" dt="2026-07-18T05:46:30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31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54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1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8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6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3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0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9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1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5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ustculture.hqa.ca/overcoming-barriers-to-a-just-culture/" TargetMode="External"/><Relationship Id="rId2" Type="http://schemas.openxmlformats.org/officeDocument/2006/relationships/hyperlink" Target="https://www.devopsinstitute.com/8-key-challenges-in-adopting-devops-part-1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hyperlink" Target="https://pubmed.ncbi.nlm.nih.gov/3558806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35403A"/>
                </a:solidFill>
                <a:ea typeface="+mj-lt"/>
                <a:cs typeface="+mj-lt"/>
              </a:rPr>
              <a:t>Establishing a Just, Learning Culture</a:t>
            </a:r>
            <a:br>
              <a:rPr lang="en-US">
                <a:solidFill>
                  <a:srgbClr val="35403A"/>
                </a:solidFill>
                <a:ea typeface="+mj-lt"/>
                <a:cs typeface="+mj-lt"/>
              </a:rPr>
            </a:br>
            <a:r>
              <a:rPr lang="en-US" sz="2000">
                <a:solidFill>
                  <a:srgbClr val="35403A"/>
                </a:solidFill>
                <a:ea typeface="+mj-lt"/>
                <a:cs typeface="+mj-lt"/>
              </a:rPr>
              <a:t>Module 8.2 - CSD380</a:t>
            </a:r>
            <a:endParaRPr lang="en-US" sz="20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Brayan Covarrubias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072B-23CC-26C8-962E-67171983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Just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7EB7B-9FB1-8731-41AC-79FFC16808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"Just culture" refers to balancing individual accountability with a focus on learning from error</a:t>
            </a:r>
          </a:p>
          <a:p>
            <a:r>
              <a:rPr lang="en-US"/>
              <a:t>Requires trust – employees must believe error reporting is honest, safe, reliable</a:t>
            </a:r>
            <a:endParaRPr lang="en-US" dirty="0"/>
          </a:p>
          <a:p>
            <a:r>
              <a:rPr lang="en-US"/>
              <a:t>Must address underlying barriers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Without addressing, organizations default to fear-based reporting, blame, and hiding mistakes rather than learning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39B05-21AB-64CD-4E34-59FB5C1EA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57B-95BC-4F21-892D-217634D1AC3C}" type="datetime1"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F755F-A1EF-D353-83AD-78F6C09E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D6E4B-DC5A-0AE9-DA07-6914BF63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5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B592-F301-4601-83AB-BF4FFF9E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F380-ECD7-2787-6F7E-C5620BB5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Blame and Attribution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6E22-ABD9-1371-78D4-AC7B2A035C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Errors are naturally be attributed to personal flaws for those involved, rather than system conditions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Rooted in a mistaken belief that individuals had more control over the situation than they actually did</a:t>
            </a:r>
          </a:p>
          <a:p>
            <a:r>
              <a:rPr lang="en-US"/>
              <a:t>Less experienced workers report greater fear of shame or blame, less likely to trust reporting systems</a:t>
            </a:r>
            <a:endParaRPr lang="en-US" dirty="0"/>
          </a:p>
          <a:p>
            <a:r>
              <a:rPr lang="en-US"/>
              <a:t>To overcome, it requires –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Avoiding quick judgements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Using </a:t>
            </a:r>
            <a:r>
              <a:rPr lang="en-US"/>
              <a:t>systematic approach to understand actions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Apply knowledge and </a:t>
            </a:r>
            <a:r>
              <a:rPr lang="en-US"/>
              <a:t>understand human factors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16597-2DFF-829D-F767-56C45C1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57B-95BC-4F21-892D-217634D1AC3C}" type="datetime1"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8FF4C-1944-D5A6-23CC-102F53AF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33B2D-C659-768F-1687-E7D52FA9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1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09408-E795-221C-B6D5-A26C56573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11BC-6A81-CD81-2D06-FE85A52C2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Outcome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F6293-3B6A-41E7-04BE-64BE410486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incident's severity often drives how an individual is treated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 </a:t>
            </a:r>
            <a:r>
              <a:rPr lang="en-US"/>
              <a:t>quality of the decision isn't considered</a:t>
            </a:r>
          </a:p>
          <a:p>
            <a:r>
              <a:rPr lang="en-US"/>
              <a:t>Worse outcomes justify harder consequences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Even when actions were reasonable given the point of time of the incident</a:t>
            </a:r>
          </a:p>
          <a:p>
            <a:r>
              <a:rPr lang="en-US"/>
              <a:t>To overcome, it requires applying a "substitution test"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Ask what someone else </a:t>
            </a:r>
            <a:r>
              <a:rPr lang="en-US" dirty="0"/>
              <a:t>would've done in the same </a:t>
            </a:r>
            <a:r>
              <a:rPr lang="en-US"/>
              <a:t>situation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Equally experienced, without knowledge of the outcome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9D09B-7280-85AD-F404-A9834E8C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57B-95BC-4F21-892D-217634D1AC3C}" type="datetime1"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46117-5876-8220-3949-9236F521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2C1B5-81AB-2613-B66A-BFC38509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40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6F38A-CE0F-C264-5C03-8BC9BBC7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C586-DF7A-AD05-7BBA-86073AD1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</a:t>
            </a:r>
            <a:r>
              <a:rPr lang="en-US">
                <a:solidFill>
                  <a:schemeClr val="bg1">
                    <a:lumMod val="85000"/>
                  </a:schemeClr>
                </a:solidFill>
              </a:rPr>
              <a:t>Transparency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0217-F50C-5CB2-F9FB-4BB4149E49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Employees are often poorly informed on how their actions will be evaluated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Whether following a safety incident or how consequences will be decided</a:t>
            </a:r>
          </a:p>
          <a:p>
            <a:r>
              <a:rPr lang="en-US"/>
              <a:t>Organizations frequently lack consistent process for assessing individual actions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Leads to an increase in unpredictable outcomes, higher chances of being perceived "unfair"</a:t>
            </a:r>
            <a:endParaRPr lang="en-US" dirty="0"/>
          </a:p>
          <a:p>
            <a:r>
              <a:rPr lang="en-US"/>
              <a:t>Being open on how errors are handled is one of the strongest factors of trust</a:t>
            </a:r>
            <a:endParaRPr lang="en-US" dirty="0"/>
          </a:p>
          <a:p>
            <a:r>
              <a:rPr lang="en-US"/>
              <a:t>To overcome, it requires –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Ensuring assessment process is open and known, while applied consistently across cases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9F599-C1B0-2C99-7307-3807644C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57B-95BC-4F21-892D-217634D1AC3C}" type="datetime1"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74557-84ED-3E8B-CE0C-4CE72CBE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45692-CCC6-6749-27D5-73A01B3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6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83C8-40F2-D715-2B8F-515BAD1F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A5FA-0326-B014-4F83-DED21037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5403A"/>
                </a:solidFill>
              </a:rPr>
              <a:t>Trust Deficits</a:t>
            </a:r>
            <a:endParaRPr lang="en-US" dirty="0">
              <a:solidFill>
                <a:srgbClr val="35403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0CBB-1CE4-B638-BAEF-E8444D5092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 variety of factors can impact whether employees trust the reporting system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Management style and walk-rounds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Visible </a:t>
            </a:r>
            <a:r>
              <a:rPr lang="en-US"/>
              <a:t>professionalism</a:t>
            </a:r>
            <a:endParaRPr lang="en-US" dirty="0"/>
          </a:p>
          <a:p>
            <a:r>
              <a:rPr lang="en-US"/>
              <a:t>Encouraging open discussion between employee and supervisor strengthens reporting behavior</a:t>
            </a:r>
            <a:endParaRPr lang="en-US" dirty="0"/>
          </a:p>
          <a:p>
            <a:r>
              <a:rPr lang="en-US"/>
              <a:t>Lack of clear reporting system, unclear role definitions, decreases confidence in reporting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5A9D9-B3A9-F5DE-68E9-218FBEAE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57B-95BC-4F21-892D-217634D1AC3C}" type="datetime1"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944A1-E3F5-FF0A-EEDE-753EBAFF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1EF44-0BAF-3458-A99B-12A32F7A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96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5F65-AB1E-8F4B-8F9C-9BC04D0F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9E26-A367-1B50-4E4C-90A7093E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5403A"/>
                </a:solidFill>
              </a:rPr>
              <a:t>Dysfunctional Culture as a Whole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E0CD-1BA7-3518-4520-50D76F49A1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"Command-and-control" and </a:t>
            </a:r>
            <a:r>
              <a:rPr lang="en-US"/>
              <a:t>bureaucratic cultures punish those who raise problems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Discouraging sharing info or being open to collaboration</a:t>
            </a:r>
            <a:endParaRPr lang="en-US" dirty="0"/>
          </a:p>
          <a:p>
            <a:r>
              <a:rPr lang="en-US" dirty="0"/>
              <a:t>Employees will cover up mistakes if </a:t>
            </a:r>
            <a:r>
              <a:rPr lang="en-US"/>
              <a:t>failure is </a:t>
            </a:r>
            <a:r>
              <a:rPr lang="en-US" dirty="0"/>
              <a:t>treated as something to avoid, rather than learn</a:t>
            </a:r>
          </a:p>
          <a:p>
            <a:r>
              <a:rPr lang="en-US"/>
              <a:t>Culture is difficult to define and change – not process or tooling, rather level of values and behavior</a:t>
            </a:r>
            <a:endParaRPr lang="en-US" dirty="0"/>
          </a:p>
          <a:p>
            <a:r>
              <a:rPr lang="en-US"/>
              <a:t>"Just culture" barriers appear </a:t>
            </a:r>
            <a:r>
              <a:rPr lang="en-US" b="1"/>
              <a:t>anywhere</a:t>
            </a:r>
            <a:r>
              <a:rPr lang="en-US"/>
              <a:t> blame is the default response for error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EB34E-3360-C0A4-3AF6-72BD7BA0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57B-95BC-4F21-892D-217634D1AC3C}" type="datetime1"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9E111-CBB4-259F-B013-4DABFE69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38A08-7FB2-BAC4-2E1B-1B60E96A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3BFD2-0062-70EF-AB2D-80CEB153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532C8-338B-0FCC-19F8-4CCEB0DC3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5BCE-06B8-113A-74C8-EF981259A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DevOps Institute – </a:t>
            </a:r>
            <a:r>
              <a:rPr lang="en-US">
                <a:hlinkClick r:id="rId2"/>
              </a:rPr>
              <a:t>https://www.devopsinstitute.com/8-key-challenges-in-adopting-devops-part-1/</a:t>
            </a:r>
            <a:endParaRPr lang="en-US" dirty="0"/>
          </a:p>
          <a:p>
            <a:r>
              <a:rPr lang="en-US"/>
              <a:t>Health Quality Alberta – </a:t>
            </a:r>
            <a:r>
              <a:rPr lang="en-US">
                <a:hlinkClick r:id="rId3"/>
              </a:rPr>
              <a:t>https://justculture.hqa.ca/overcoming-barriers-to-a-just-culture/</a:t>
            </a:r>
            <a:endParaRPr lang="en-US" dirty="0"/>
          </a:p>
          <a:p>
            <a:r>
              <a:rPr lang="en-US"/>
              <a:t>PubMed – </a:t>
            </a:r>
            <a:r>
              <a:rPr lang="en-US">
                <a:hlinkClick r:id="rId4"/>
              </a:rPr>
              <a:t>https://pubmed.ncbi.nlm.nih.gov/35588066/</a:t>
            </a:r>
            <a:endParaRPr lang="en-US" dirty="0"/>
          </a:p>
          <a:p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A58E1-E256-89E2-3790-9B18C4779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689" y="773061"/>
            <a:ext cx="4747017" cy="5316815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51255-07A0-63D5-3A20-509EBD61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317E57B-95BC-4F21-892D-217634D1AC3C}" type="datetime1">
              <a:rPr lang="en-US"/>
              <a:pPr>
                <a:spcAft>
                  <a:spcPts val="600"/>
                </a:spcAft>
              </a:pPr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FE8D3-102D-D4FE-BF2F-701A41CD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32320" y="6356350"/>
            <a:ext cx="429768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62C85-3483-4225-920E-8584C6E4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A9A4F3-5C35-D72F-E392-EE9E780CE1D6}"/>
              </a:ext>
            </a:extLst>
          </p:cNvPr>
          <p:cNvSpPr txBox="1">
            <a:spLocks/>
          </p:cNvSpPr>
          <p:nvPr/>
        </p:nvSpPr>
        <p:spPr>
          <a:xfrm>
            <a:off x="10181481" y="5787747"/>
            <a:ext cx="1138425" cy="302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JustCulture</a:t>
            </a:r>
            <a:endParaRPr lang="en-US" b="1"/>
          </a:p>
          <a:p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754173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BohoVogueVTI</vt:lpstr>
      <vt:lpstr>Establishing a Just, Learning Culture Module 8.2 - CSD380</vt:lpstr>
      <vt:lpstr>What is Just Culture?</vt:lpstr>
      <vt:lpstr>Blame and Attribution Bias</vt:lpstr>
      <vt:lpstr>Outcome Bias</vt:lpstr>
      <vt:lpstr>Lack of Transparency</vt:lpstr>
      <vt:lpstr>Trust Deficits</vt:lpstr>
      <vt:lpstr>Dysfunctional Culture as a Whole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255</cp:revision>
  <dcterms:created xsi:type="dcterms:W3CDTF">2026-07-18T03:33:18Z</dcterms:created>
  <dcterms:modified xsi:type="dcterms:W3CDTF">2026-07-18T06:00:04Z</dcterms:modified>
</cp:coreProperties>
</file>