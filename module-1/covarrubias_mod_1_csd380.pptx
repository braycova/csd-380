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930" r:id="rId1"/>
  </p:sldMasterIdLst>
  <p:sldIdLst>
    <p:sldId id="256" r:id="rId2"/>
    <p:sldId id="257" r:id="rId3"/>
    <p:sldId id="258" r:id="rId4"/>
    <p:sldId id="259" r:id="rId5"/>
    <p:sldId id="260" r:id="rId6"/>
    <p:sldId id="262" r:id="rId7"/>
    <p:sldId id="261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2B02EE0-08C9-C0A2-5796-142DCE8CA8BD}" v="2960" dt="2026-06-08T02:13:59.63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72" autoAdjust="0"/>
    <p:restoredTop sz="94660"/>
  </p:normalViewPr>
  <p:slideViewPr>
    <p:cSldViewPr snapToGrid="0">
      <p:cViewPr varScale="1">
        <p:scale>
          <a:sx n="86" d="100"/>
          <a:sy n="86" d="100"/>
        </p:scale>
        <p:origin x="96" y="8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Title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962399" y="1964267"/>
            <a:ext cx="7197726" cy="2421464"/>
          </a:xfrm>
        </p:spPr>
        <p:txBody>
          <a:bodyPr anchor="b">
            <a:normAutofit/>
          </a:bodyPr>
          <a:lstStyle>
            <a:lvl1pPr algn="r">
              <a:defRPr sz="4800">
                <a:effectLst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962399" y="4385732"/>
            <a:ext cx="7197726" cy="1405467"/>
          </a:xfrm>
        </p:spPr>
        <p:txBody>
          <a:bodyPr anchor="t">
            <a:normAutofit/>
          </a:bodyPr>
          <a:lstStyle>
            <a:lvl1pPr marL="0" indent="0" algn="r">
              <a:buNone/>
              <a:defRPr sz="1800" cap="all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932558" y="5870575"/>
            <a:ext cx="1600200" cy="377825"/>
          </a:xfrm>
        </p:spPr>
        <p:txBody>
          <a:bodyPr/>
          <a:lstStyle/>
          <a:p>
            <a:fld id="{B61BEF0D-F0BB-DE4B-95CE-6DB70DBA9567}" type="datetimeFigureOut">
              <a:rPr lang="en-US" dirty="0"/>
              <a:pPr/>
              <a:t>6/7/2026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962399" y="5870575"/>
            <a:ext cx="4893958" cy="3778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608958" y="5870575"/>
            <a:ext cx="551167" cy="3778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3497983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56686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3308581"/>
            <a:ext cx="10131427" cy="1468800"/>
          </a:xfrm>
        </p:spPr>
        <p:txBody>
          <a:bodyPr anchor="b"/>
          <a:lstStyle>
            <a:lvl1pPr algn="l">
              <a:defRPr sz="4000" b="0" cap="all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799" y="4777381"/>
            <a:ext cx="10131428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 cap="all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759348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2" y="2142067"/>
            <a:ext cx="4995334" cy="3649134"/>
          </a:xfrm>
        </p:spPr>
        <p:txBody>
          <a:bodyPr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21895" y="2142067"/>
            <a:ext cx="4995332" cy="3649133"/>
          </a:xfrm>
        </p:spPr>
        <p:txBody>
          <a:bodyPr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593176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973670" y="2218267"/>
            <a:ext cx="4709054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5801" y="2870201"/>
            <a:ext cx="4996923" cy="2920998"/>
          </a:xfrm>
        </p:spPr>
        <p:txBody>
          <a:bodyPr anchor="t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 hasCustomPrompt="1"/>
          </p:nvPr>
        </p:nvSpPr>
        <p:spPr>
          <a:xfrm>
            <a:off x="6096003" y="2226734"/>
            <a:ext cx="4722813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823483" y="2870201"/>
            <a:ext cx="4995334" cy="2920998"/>
          </a:xfrm>
        </p:spPr>
        <p:txBody>
          <a:bodyPr anchor="t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6/7/2026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849343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6/7/2026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80356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6/7/2026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458997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2074333"/>
            <a:ext cx="3680885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48201" y="609601"/>
            <a:ext cx="6169026" cy="5181600"/>
          </a:xfrm>
        </p:spPr>
        <p:txBody>
          <a:bodyPr anchor="ctr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445933"/>
            <a:ext cx="3680885" cy="1828800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9323375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600200"/>
            <a:ext cx="6164653" cy="137160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536253" y="914400"/>
            <a:ext cx="3280974" cy="4572000"/>
          </a:xfrm>
          <a:prstGeom prst="roundRect">
            <a:avLst>
              <a:gd name="adj" fmla="val 4280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2971800"/>
            <a:ext cx="6164653" cy="1828800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0705788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4732865"/>
            <a:ext cx="1013142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371600" y="932112"/>
            <a:ext cx="8759827" cy="3164976"/>
          </a:xfrm>
          <a:prstGeom prst="roundRect">
            <a:avLst>
              <a:gd name="adj" fmla="val 4380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5299603"/>
            <a:ext cx="10131427" cy="49371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7367490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609601"/>
            <a:ext cx="10131427" cy="3124199"/>
          </a:xfrm>
        </p:spPr>
        <p:txBody>
          <a:bodyPr anchor="ctr">
            <a:normAutofit/>
          </a:bodyPr>
          <a:lstStyle>
            <a:lvl1pPr algn="l">
              <a:defRPr sz="3200" b="0" cap="none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10131428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1688753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10237867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8275" y="823337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2267" y="609601"/>
            <a:ext cx="9550399" cy="2743199"/>
          </a:xfrm>
        </p:spPr>
        <p:txBody>
          <a:bodyPr anchor="ctr">
            <a:normAutofit/>
          </a:bodyPr>
          <a:lstStyle>
            <a:lvl1pPr algn="l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097875" y="3352800"/>
            <a:ext cx="9339184" cy="3810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7465" y="4343400"/>
            <a:ext cx="10152367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9578746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2" y="3308581"/>
            <a:ext cx="10131425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1" y="4777381"/>
            <a:ext cx="10131426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0281083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0237867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8275" y="823337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6" name="Title 1"/>
          <p:cNvSpPr>
            <a:spLocks noGrp="1"/>
          </p:cNvSpPr>
          <p:nvPr>
            <p:ph type="title"/>
          </p:nvPr>
        </p:nvSpPr>
        <p:spPr>
          <a:xfrm>
            <a:off x="992267" y="609601"/>
            <a:ext cx="9550399" cy="2743199"/>
          </a:xfrm>
        </p:spPr>
        <p:txBody>
          <a:bodyPr anchor="ctr">
            <a:normAutofit/>
          </a:bodyPr>
          <a:lstStyle>
            <a:lvl1pPr algn="l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5800" y="3886200"/>
            <a:ext cx="10135436" cy="8890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 dirty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799" y="4775200"/>
            <a:ext cx="10135436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542315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609601"/>
            <a:ext cx="10131427" cy="2743199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 dirty="0"/>
              <a:t>Click to edit Master title style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5801" y="3505200"/>
            <a:ext cx="10131428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 dirty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10131428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6002729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685801" y="609600"/>
            <a:ext cx="10131425" cy="1456267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38547672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58675" y="609599"/>
            <a:ext cx="2158552" cy="5181601"/>
          </a:xfrm>
        </p:spPr>
        <p:txBody>
          <a:bodyPr vert="eaVer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7832116" cy="5181600"/>
          </a:xfrm>
        </p:spPr>
        <p:txBody>
          <a:bodyPr vert="eaVert" anchor="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641996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5801" y="609600"/>
            <a:ext cx="10131425" cy="14562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1" y="2142067"/>
            <a:ext cx="10131425" cy="364913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589660" y="5870575"/>
            <a:ext cx="1600200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B61BEF0D-F0BB-DE4B-95CE-6DB70DBA9567}" type="datetimeFigureOut">
              <a:rPr lang="en-US" dirty="0"/>
              <a:pPr/>
              <a:t>6/7/2026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0" y="5870575"/>
            <a:ext cx="7827659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66060" y="5870575"/>
            <a:ext cx="551167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53472675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931" r:id="rId1"/>
    <p:sldLayoutId id="2147483932" r:id="rId2"/>
    <p:sldLayoutId id="2147483933" r:id="rId3"/>
    <p:sldLayoutId id="2147483934" r:id="rId4"/>
    <p:sldLayoutId id="2147483935" r:id="rId5"/>
    <p:sldLayoutId id="2147483936" r:id="rId6"/>
    <p:sldLayoutId id="2147483937" r:id="rId7"/>
    <p:sldLayoutId id="2147483938" r:id="rId8"/>
    <p:sldLayoutId id="2147483939" r:id="rId9"/>
    <p:sldLayoutId id="2147483940" r:id="rId10"/>
    <p:sldLayoutId id="2147483941" r:id="rId11"/>
    <p:sldLayoutId id="2147483942" r:id="rId12"/>
    <p:sldLayoutId id="2147483943" r:id="rId13"/>
    <p:sldLayoutId id="2147483944" r:id="rId14"/>
    <p:sldLayoutId id="2147483945" r:id="rId15"/>
    <p:sldLayoutId id="2147483946" r:id="rId16"/>
    <p:sldLayoutId id="2147483947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 cap="all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8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>
                <a:solidFill>
                  <a:schemeClr val="tx1"/>
                </a:solidFill>
                <a:effectLst>
                  <a:glow rad="38100">
                    <a:prstClr val="black">
                      <a:lumMod val="65000"/>
                      <a:lumOff val="35000"/>
                      <a:alpha val="50000"/>
                    </a:prstClr>
                  </a:glow>
                  <a:outerShdw blurRad="28575" dist="31750" dir="13200000" algn="tl" rotWithShape="0">
                    <a:srgbClr val="000000">
                      <a:alpha val="25000"/>
                    </a:srgbClr>
                  </a:outerShdw>
                </a:effectLst>
                <a:latin typeface="Century Gothic"/>
                <a:ea typeface="Open Sans"/>
                <a:cs typeface="Open Sans"/>
              </a:rPr>
              <a:t>The Technology Value Stream</a:t>
            </a:r>
            <a:endParaRPr lang="en-US">
              <a:solidFill>
                <a:schemeClr val="tx1"/>
              </a:solidFill>
              <a:effectLst>
                <a:glow rad="38100">
                  <a:prstClr val="black">
                    <a:lumMod val="65000"/>
                    <a:lumOff val="35000"/>
                    <a:alpha val="50000"/>
                  </a:prstClr>
                </a:glow>
                <a:outerShdw blurRad="28575" dist="31750" dir="13200000" algn="tl" rotWithShape="0">
                  <a:srgbClr val="000000">
                    <a:alpha val="25000"/>
                  </a:srgbClr>
                </a:outerShdw>
              </a:effectLst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>
                <a:gradFill flip="none"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  <a:tileRect/>
                </a:gradFill>
                <a:effectLst>
                  <a:glow rad="38100">
                    <a:prstClr val="black">
                      <a:lumMod val="50000"/>
                      <a:lumOff val="50000"/>
                      <a:alpha val="20000"/>
                    </a:prst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</a:rPr>
              <a:t>Module 1.2 - Brayan Covarrubias</a:t>
            </a:r>
            <a:endParaRPr lang="en-US">
              <a:gradFill flip="none" rotWithShape="1">
                <a:gsLst>
                  <a:gs pos="0">
                    <a:prstClr val="white"/>
                  </a:gs>
                  <a:gs pos="100000">
                    <a:prstClr val="white">
                      <a:lumMod val="75000"/>
                    </a:prstClr>
                  </a:gs>
                </a:gsLst>
                <a:lin ang="5400000" scaled="0"/>
                <a:tileRect/>
              </a:gradFill>
              <a:effectLst>
                <a:glow rad="38100">
                  <a:prstClr val="black">
                    <a:lumMod val="50000"/>
                    <a:lumOff val="50000"/>
                    <a:alpha val="20000"/>
                  </a:prstClr>
                </a:glow>
                <a:outerShdw blurRad="44450" dist="12700" dir="13860000" algn="tl" rotWithShape="0">
                  <a:srgbClr val="000000">
                    <a:alpha val="20000"/>
                  </a:srgbClr>
                </a:outerShdw>
              </a:effectLst>
              <a:ea typeface="Calibri" panose="020F0502020204030204"/>
              <a:cs typeface="Calibri" panose="020F0502020204030204"/>
            </a:endParaRPr>
          </a:p>
          <a:p>
            <a:r>
              <a:rPr lang="en-US">
                <a:gradFill flip="none"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  <a:tileRect/>
                </a:gradFill>
                <a:effectLst>
                  <a:glow rad="38100">
                    <a:prstClr val="black">
                      <a:lumMod val="50000"/>
                      <a:lumOff val="50000"/>
                      <a:alpha val="20000"/>
                    </a:prst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ea typeface="Calibri" panose="020F0502020204030204"/>
                <a:cs typeface="Calibri" panose="020F0502020204030204"/>
              </a:rPr>
              <a:t>Sourced from "</a:t>
            </a:r>
            <a:r>
              <a:rPr lang="en-US">
                <a:gradFill flip="none"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  <a:tileRect/>
                </a:gradFill>
                <a:effectLst>
                  <a:glow rad="38100">
                    <a:prstClr val="black">
                      <a:lumMod val="50000"/>
                      <a:lumOff val="50000"/>
                      <a:alpha val="20000"/>
                    </a:prst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ea typeface="+mn-lt"/>
                <a:cs typeface="+mn-lt"/>
              </a:rPr>
              <a:t>The DevOps Handbook"</a:t>
            </a:r>
            <a:endParaRPr lang="en-US" dirty="0">
              <a:gradFill flip="none"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  <a:tileRect/>
              </a:gradFill>
              <a:effectLst>
                <a:glow rad="38100">
                  <a:prstClr val="black">
                    <a:lumMod val="50000"/>
                    <a:lumOff val="50000"/>
                    <a:alpha val="20000"/>
                  </a:prstClr>
                </a:glow>
                <a:outerShdw blurRad="44450" dist="12700" dir="13860000" algn="tl" rotWithShape="0">
                  <a:srgbClr val="000000">
                    <a:alpha val="20000"/>
                  </a:srgbClr>
                </a:outerShdw>
              </a:effectLst>
              <a:ea typeface="Calibri" panose="020F0502020204030204"/>
              <a:cs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047195-6046-7C47-5AF7-FDB70BF8EA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gradFill flip="none"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580000" scaled="0"/>
                  <a:tileRect/>
                </a:gradFill>
                <a:effectLst>
                  <a:glow rad="38100">
                    <a:prstClr val="black">
                      <a:lumMod val="65000"/>
                      <a:lumOff val="35000"/>
                      <a:alpha val="40000"/>
                    </a:prst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ea typeface="+mj-lt"/>
                <a:cs typeface="+mj-lt"/>
              </a:rPr>
              <a:t>The Technology Value Stream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0BD860-9783-8A99-3AB9-33D4287F577D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>
                <a:gradFill flip="none"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580000" scaled="0"/>
                  <a:tileRect/>
                </a:gradFill>
                <a:effectLst>
                  <a:glow rad="38100">
                    <a:prstClr val="black">
                      <a:lumMod val="50000"/>
                      <a:lumOff val="50000"/>
                      <a:alpha val="20000"/>
                    </a:prst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ea typeface="Calibri"/>
                <a:cs typeface="Calibri"/>
              </a:rPr>
              <a:t>In DevOps, every new feature or product starts as a business hypothesis</a:t>
            </a:r>
            <a:endParaRPr lang="en-US" dirty="0">
              <a:gradFill flip="none"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580000" scaled="0"/>
                <a:tileRect/>
              </a:gradFill>
              <a:effectLst>
                <a:glow rad="38100">
                  <a:prstClr val="black">
                    <a:lumMod val="50000"/>
                    <a:lumOff val="50000"/>
                    <a:alpha val="20000"/>
                  </a:prstClr>
                </a:glow>
                <a:outerShdw blurRad="44450" dist="12700" dir="13860000" algn="tl" rotWithShape="0">
                  <a:srgbClr val="000000">
                    <a:alpha val="20000"/>
                  </a:srgbClr>
                </a:outerShdw>
              </a:effectLst>
              <a:ea typeface="Calibri"/>
              <a:cs typeface="Calibri"/>
            </a:endParaRPr>
          </a:p>
          <a:p>
            <a:pPr>
              <a:buClr>
                <a:srgbClr val="FFFFFF"/>
              </a:buClr>
            </a:pPr>
            <a:r>
              <a:rPr lang="en-US" b="1" dirty="0">
                <a:gradFill flip="none"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580000" scaled="0"/>
                  <a:tileRect/>
                </a:gradFill>
                <a:effectLst>
                  <a:glow rad="38100">
                    <a:prstClr val="black">
                      <a:lumMod val="50000"/>
                      <a:lumOff val="50000"/>
                      <a:alpha val="20000"/>
                    </a:prst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ea typeface="Calibri"/>
                <a:cs typeface="Calibri"/>
              </a:rPr>
              <a:t>Business hypothesis</a:t>
            </a:r>
            <a:r>
              <a:rPr lang="en-US">
                <a:gradFill flip="none"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580000" scaled="0"/>
                  <a:tileRect/>
                </a:gradFill>
                <a:effectLst>
                  <a:glow rad="38100">
                    <a:prstClr val="black">
                      <a:lumMod val="50000"/>
                      <a:lumOff val="50000"/>
                      <a:alpha val="20000"/>
                    </a:prst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ea typeface="Calibri"/>
                <a:cs typeface="Calibri"/>
              </a:rPr>
              <a:t> – an educated guess of a certain feature or product will please customers or increase revenue</a:t>
            </a:r>
          </a:p>
          <a:p>
            <a:pPr>
              <a:buClr>
                <a:srgbClr val="FFFFFF"/>
              </a:buClr>
            </a:pPr>
            <a:r>
              <a:rPr lang="en-US" dirty="0">
                <a:gradFill flip="none"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580000" scaled="0"/>
                  <a:tileRect/>
                </a:gradFill>
                <a:effectLst>
                  <a:glow rad="38100">
                    <a:prstClr val="black">
                      <a:lumMod val="50000"/>
                      <a:lumOff val="50000"/>
                      <a:alpha val="20000"/>
                    </a:prst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ea typeface="Calibri"/>
                <a:cs typeface="Calibri"/>
              </a:rPr>
              <a:t>Value stream makes up the entire pipeline fr</a:t>
            </a:r>
            <a:r>
              <a:rPr lang="en-US">
                <a:gradFill flip="none"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580000" scaled="0"/>
                  <a:tileRect/>
                </a:gradFill>
                <a:effectLst>
                  <a:glow rad="38100">
                    <a:prstClr val="black">
                      <a:lumMod val="50000"/>
                      <a:lumOff val="50000"/>
                      <a:alpha val="20000"/>
                    </a:prst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ea typeface="Calibri"/>
                <a:cs typeface="Calibri"/>
              </a:rPr>
              <a:t>om an abstract hypothesis to a live feature/product</a:t>
            </a:r>
          </a:p>
          <a:p>
            <a:pPr lvl="1">
              <a:buClr>
                <a:srgbClr val="FFFFFF"/>
              </a:buClr>
              <a:buFont typeface="Courier New"/>
              <a:buChar char="o"/>
            </a:pPr>
            <a:r>
              <a:rPr lang="en-US" dirty="0">
                <a:gradFill flip="none"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580000" scaled="0"/>
                  <a:tileRect/>
                </a:gradFill>
                <a:effectLst>
                  <a:glow rad="38100">
                    <a:prstClr val="black">
                      <a:lumMod val="50000"/>
                      <a:lumOff val="50000"/>
                      <a:alpha val="20000"/>
                    </a:prst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ea typeface="Calibri"/>
                <a:cs typeface="Calibri"/>
              </a:rPr>
              <a:t>From a user's initial idea to final product</a:t>
            </a:r>
          </a:p>
        </p:txBody>
      </p:sp>
    </p:spTree>
    <p:extLst>
      <p:ext uri="{BB962C8B-B14F-4D97-AF65-F5344CB8AC3E}">
        <p14:creationId xmlns:p14="http://schemas.microsoft.com/office/powerpoint/2010/main" val="122096223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AD51A7-D1B5-6231-8687-0D9E813628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FC84BC-C2A2-8B44-82FE-3620849249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gradFill flip="none"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580000" scaled="0"/>
                  <a:tileRect/>
                </a:gradFill>
                <a:effectLst>
                  <a:glow rad="38100">
                    <a:prstClr val="black">
                      <a:lumMod val="65000"/>
                      <a:lumOff val="35000"/>
                      <a:alpha val="40000"/>
                    </a:prst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ea typeface="+mj-lt"/>
                <a:cs typeface="+mj-lt"/>
              </a:rPr>
              <a:t>The Technology Value Stream (</a:t>
            </a:r>
            <a:r>
              <a:rPr lang="en-US" sz="2400">
                <a:gradFill flip="none"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580000" scaled="0"/>
                  <a:tileRect/>
                </a:gradFill>
                <a:effectLst>
                  <a:glow rad="38100">
                    <a:prstClr val="black">
                      <a:lumMod val="65000"/>
                      <a:lumOff val="35000"/>
                      <a:alpha val="40000"/>
                    </a:prst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ea typeface="+mj-lt"/>
                <a:cs typeface="+mj-lt"/>
              </a:rPr>
              <a:t>cont.</a:t>
            </a:r>
            <a:r>
              <a:rPr lang="en-US">
                <a:gradFill flip="none"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580000" scaled="0"/>
                  <a:tileRect/>
                </a:gradFill>
                <a:effectLst>
                  <a:glow rad="38100">
                    <a:prstClr val="black">
                      <a:lumMod val="65000"/>
                      <a:lumOff val="35000"/>
                      <a:alpha val="40000"/>
                    </a:prst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ea typeface="+mj-lt"/>
                <a:cs typeface="+mj-lt"/>
              </a:rPr>
              <a:t>)</a:t>
            </a:r>
            <a:endParaRPr lang="en-US">
              <a:gradFill flip="none"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580000" scaled="0"/>
                <a:tileRect/>
              </a:gradFill>
              <a:effectLst>
                <a:glow rad="38100">
                  <a:prstClr val="black">
                    <a:lumMod val="65000"/>
                    <a:lumOff val="35000"/>
                    <a:alpha val="40000"/>
                  </a:prstClr>
                </a:glow>
                <a:outerShdw blurRad="28575" dist="38100" dir="14040000" algn="tl" rotWithShape="0">
                  <a:srgbClr val="000000">
                    <a:alpha val="25000"/>
                  </a:srgbClr>
                </a:outerShdw>
              </a:effectLst>
              <a:ea typeface="Calibri Light"/>
              <a:cs typeface="Calibri Ligh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279F13-BB5C-3270-6035-B923B68C80F5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 vert="horz" lIns="91440" tIns="45720" rIns="91440" bIns="45720" rtlCol="0" anchor="t">
            <a:normAutofit fontScale="92500" lnSpcReduction="10000"/>
          </a:bodyPr>
          <a:lstStyle/>
          <a:p>
            <a:r>
              <a:rPr lang="en-US">
                <a:gradFill flip="none"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580000" scaled="0"/>
                  <a:tileRect/>
                </a:gradFill>
                <a:effectLst>
                  <a:glow rad="38100">
                    <a:prstClr val="black">
                      <a:lumMod val="50000"/>
                      <a:lumOff val="50000"/>
                      <a:alpha val="20000"/>
                    </a:prst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ea typeface="Calibri"/>
                <a:cs typeface="Calibri"/>
              </a:rPr>
              <a:t>The clock officially starts when a feature becomes a commitment by – </a:t>
            </a:r>
          </a:p>
          <a:p>
            <a:pPr lvl="1">
              <a:buClr>
                <a:srgbClr val="FFFFFF"/>
              </a:buClr>
              <a:buFont typeface="Courier New"/>
              <a:buChar char="o"/>
            </a:pPr>
            <a:r>
              <a:rPr lang="en-US">
                <a:gradFill flip="none"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580000" scaled="0"/>
                  <a:tileRect/>
                </a:gradFill>
                <a:effectLst>
                  <a:glow rad="38100">
                    <a:prstClr val="black">
                      <a:lumMod val="50000"/>
                      <a:lumOff val="50000"/>
                      <a:alpha val="20000"/>
                    </a:prst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ea typeface="Calibri"/>
                <a:cs typeface="Calibri"/>
              </a:rPr>
              <a:t>Having a concept move out of the "brainstorming" phase</a:t>
            </a:r>
            <a:endParaRPr lang="en-US" dirty="0">
              <a:gradFill flip="none"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580000" scaled="0"/>
                <a:tileRect/>
              </a:gradFill>
              <a:effectLst>
                <a:glow rad="38100">
                  <a:prstClr val="black">
                    <a:lumMod val="50000"/>
                    <a:lumOff val="50000"/>
                    <a:alpha val="20000"/>
                  </a:prstClr>
                </a:glow>
                <a:outerShdw blurRad="44450" dist="12700" dir="13860000" algn="tl" rotWithShape="0">
                  <a:srgbClr val="000000">
                    <a:alpha val="20000"/>
                  </a:srgbClr>
                </a:outerShdw>
              </a:effectLst>
              <a:ea typeface="Calibri"/>
              <a:cs typeface="Calibri"/>
            </a:endParaRPr>
          </a:p>
          <a:p>
            <a:pPr lvl="1">
              <a:buClr>
                <a:srgbClr val="FFFFFF"/>
              </a:buClr>
              <a:buFont typeface="Courier New"/>
              <a:buChar char="o"/>
            </a:pPr>
            <a:r>
              <a:rPr lang="en-US" dirty="0">
                <a:gradFill flip="none"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580000" scaled="0"/>
                  <a:tileRect/>
                </a:gradFill>
                <a:effectLst>
                  <a:glow rad="38100">
                    <a:prstClr val="black">
                      <a:lumMod val="50000"/>
                      <a:lumOff val="50000"/>
                      <a:alpha val="20000"/>
                    </a:prst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ea typeface="Calibri"/>
                <a:cs typeface="Calibri"/>
              </a:rPr>
              <a:t>Formally accepted into Development Team's </a:t>
            </a:r>
            <a:r>
              <a:rPr lang="en-US">
                <a:gradFill flip="none"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580000" scaled="0"/>
                  <a:tileRect/>
                </a:gradFill>
                <a:effectLst>
                  <a:glow rad="38100">
                    <a:prstClr val="black">
                      <a:lumMod val="50000"/>
                      <a:lumOff val="50000"/>
                      <a:alpha val="20000"/>
                    </a:prst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ea typeface="Calibri"/>
                <a:cs typeface="Calibri"/>
              </a:rPr>
              <a:t>committed backlog – begins spending resources, time, and focus</a:t>
            </a:r>
          </a:p>
          <a:p>
            <a:pPr>
              <a:buClr>
                <a:srgbClr val="FFFFFF"/>
              </a:buClr>
            </a:pPr>
            <a:r>
              <a:rPr lang="en-US">
                <a:gradFill flip="none"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580000" scaled="0"/>
                  <a:tileRect/>
                </a:gradFill>
                <a:effectLst>
                  <a:glow rad="38100">
                    <a:prstClr val="black">
                      <a:lumMod val="50000"/>
                      <a:lumOff val="50000"/>
                      <a:alpha val="20000"/>
                    </a:prst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ea typeface="Calibri"/>
                <a:cs typeface="Calibri"/>
              </a:rPr>
              <a:t>Value is realized when code is safely running in production, actively serving end-user</a:t>
            </a:r>
          </a:p>
          <a:p>
            <a:pPr lvl="1">
              <a:buClr>
                <a:srgbClr val="FFFFFF"/>
              </a:buClr>
              <a:buFont typeface="Courier New"/>
              <a:buChar char="o"/>
            </a:pPr>
            <a:r>
              <a:rPr lang="en-US">
                <a:gradFill flip="none"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580000" scaled="0"/>
                  <a:tileRect/>
                </a:gradFill>
                <a:effectLst>
                  <a:glow rad="38100">
                    <a:prstClr val="black">
                      <a:lumMod val="50000"/>
                      <a:lumOff val="50000"/>
                      <a:alpha val="20000"/>
                    </a:prst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ea typeface="Calibri"/>
                <a:cs typeface="Calibri"/>
              </a:rPr>
              <a:t>Leaving sitting code or features in staging or pending approval costs money with no revenue</a:t>
            </a:r>
            <a:endParaRPr lang="en-US" dirty="0">
              <a:gradFill flip="none"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580000" scaled="0"/>
                <a:tileRect/>
              </a:gradFill>
              <a:effectLst>
                <a:glow rad="38100">
                  <a:prstClr val="black">
                    <a:lumMod val="50000"/>
                    <a:lumOff val="50000"/>
                    <a:alpha val="20000"/>
                  </a:prstClr>
                </a:glow>
                <a:outerShdw blurRad="44450" dist="12700" dir="13860000" algn="tl" rotWithShape="0">
                  <a:srgbClr val="000000">
                    <a:alpha val="20000"/>
                  </a:srgbClr>
                </a:outerShdw>
              </a:effectLst>
              <a:ea typeface="Calibri"/>
              <a:cs typeface="Calibri"/>
            </a:endParaRPr>
          </a:p>
          <a:p>
            <a:pPr lvl="1">
              <a:buClr>
                <a:srgbClr val="FFFFFF"/>
              </a:buClr>
              <a:buFont typeface="Courier New"/>
              <a:buChar char="o"/>
            </a:pPr>
            <a:r>
              <a:rPr lang="en-US" dirty="0">
                <a:gradFill flip="none"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580000" scaled="0"/>
                  <a:tileRect/>
                </a:gradFill>
                <a:effectLst>
                  <a:glow rad="38100">
                    <a:prstClr val="black">
                      <a:lumMod val="50000"/>
                      <a:lumOff val="50000"/>
                      <a:alpha val="20000"/>
                    </a:prst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ea typeface="Calibri"/>
                <a:cs typeface="Calibri"/>
              </a:rPr>
              <a:t>Similar to unsold inventory in a retail store's backroom</a:t>
            </a:r>
          </a:p>
        </p:txBody>
      </p:sp>
    </p:spTree>
    <p:extLst>
      <p:ext uri="{BB962C8B-B14F-4D97-AF65-F5344CB8AC3E}">
        <p14:creationId xmlns:p14="http://schemas.microsoft.com/office/powerpoint/2010/main" val="55504908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9BDB6D-1212-EDC4-109C-970852734F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4DC8D5-B3D8-C7C0-69ED-16718A56D2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gradFill flip="none"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580000" scaled="0"/>
                  <a:tileRect/>
                </a:gradFill>
                <a:effectLst>
                  <a:glow rad="38100">
                    <a:prstClr val="black">
                      <a:lumMod val="65000"/>
                      <a:lumOff val="35000"/>
                      <a:alpha val="40000"/>
                    </a:prst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ea typeface="+mj-lt"/>
                <a:cs typeface="+mj-lt"/>
              </a:rPr>
              <a:t>Focus on </a:t>
            </a:r>
            <a:r>
              <a:rPr lang="en-US">
                <a:gradFill flip="none"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580000" scaled="0"/>
                  <a:tileRect/>
                </a:gradFill>
                <a:effectLst>
                  <a:glow rad="38100">
                    <a:prstClr val="black">
                      <a:lumMod val="65000"/>
                      <a:lumOff val="35000"/>
                      <a:alpha val="40000"/>
                    </a:prst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ea typeface="+mj-lt"/>
                <a:cs typeface="+mj-lt"/>
              </a:rPr>
              <a:t>deployment Lead time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5C9C54-014F-5720-2821-FC4B4874F176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 vert="horz" lIns="91440" tIns="45720" rIns="91440" bIns="45720" rtlCol="0" anchor="t">
            <a:normAutofit fontScale="92500" lnSpcReduction="10000"/>
          </a:bodyPr>
          <a:lstStyle/>
          <a:p>
            <a:r>
              <a:rPr lang="en-US">
                <a:gradFill flip="none"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580000" scaled="0"/>
                  <a:tileRect/>
                </a:gradFill>
                <a:effectLst>
                  <a:glow rad="38100">
                    <a:prstClr val="black">
                      <a:lumMod val="50000"/>
                      <a:lumOff val="50000"/>
                      <a:alpha val="20000"/>
                    </a:prst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ea typeface="Calibri"/>
                <a:cs typeface="Calibri"/>
              </a:rPr>
              <a:t>Deployment Lead Time – a critical window for engineers</a:t>
            </a:r>
          </a:p>
          <a:p>
            <a:pPr lvl="1">
              <a:buClr>
                <a:srgbClr val="FFFFFF"/>
              </a:buClr>
              <a:buFont typeface="Courier New"/>
              <a:buChar char="o"/>
            </a:pPr>
            <a:r>
              <a:rPr lang="en-US" dirty="0">
                <a:gradFill flip="none"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580000" scaled="0"/>
                  <a:tileRect/>
                </a:gradFill>
                <a:effectLst>
                  <a:glow rad="38100">
                    <a:prstClr val="black">
                      <a:lumMod val="50000"/>
                      <a:lumOff val="50000"/>
                      <a:alpha val="20000"/>
                    </a:prst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ea typeface="Calibri"/>
                <a:cs typeface="Calibri"/>
              </a:rPr>
              <a:t>Starts when an engineer checks a code change into version control – i.e. Git</a:t>
            </a:r>
          </a:p>
          <a:p>
            <a:pPr lvl="1">
              <a:buClr>
                <a:srgbClr val="FFFFFF"/>
              </a:buClr>
              <a:buFont typeface="Courier New"/>
              <a:buChar char="o"/>
            </a:pPr>
            <a:r>
              <a:rPr lang="en-US">
                <a:gradFill flip="none"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580000" scaled="0"/>
                  <a:tileRect/>
                </a:gradFill>
                <a:effectLst>
                  <a:glow rad="38100">
                    <a:prstClr val="black">
                      <a:lumMod val="50000"/>
                      <a:lumOff val="50000"/>
                      <a:alpha val="20000"/>
                    </a:prst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ea typeface="Calibri"/>
                <a:cs typeface="Calibri"/>
              </a:rPr>
              <a:t>Ends when change is successfully deployed in production</a:t>
            </a:r>
          </a:p>
          <a:p>
            <a:pPr>
              <a:buClr>
                <a:srgbClr val="FFFFFF"/>
              </a:buClr>
            </a:pPr>
            <a:r>
              <a:rPr lang="en-US">
                <a:gradFill flip="none"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580000" scaled="0"/>
                  <a:tileRect/>
                </a:gradFill>
                <a:effectLst>
                  <a:glow rad="38100">
                    <a:prstClr val="black">
                      <a:lumMod val="50000"/>
                      <a:lumOff val="50000"/>
                      <a:alpha val="20000"/>
                    </a:prst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ea typeface="Calibri"/>
                <a:cs typeface="Calibri"/>
              </a:rPr>
              <a:t>DevOps aims to overlap development phases by – </a:t>
            </a:r>
          </a:p>
          <a:p>
            <a:pPr lvl="1">
              <a:buClr>
                <a:srgbClr val="FFFFFF"/>
              </a:buClr>
              <a:buFont typeface="Courier New"/>
              <a:buChar char="o"/>
            </a:pPr>
            <a:r>
              <a:rPr lang="en-US">
                <a:gradFill flip="none"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580000" scaled="0"/>
                  <a:tileRect/>
                </a:gradFill>
                <a:effectLst>
                  <a:glow rad="38100">
                    <a:prstClr val="black">
                      <a:lumMod val="50000"/>
                      <a:lumOff val="50000"/>
                      <a:alpha val="20000"/>
                    </a:prst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ea typeface="Calibri"/>
                <a:cs typeface="Calibri"/>
              </a:rPr>
              <a:t>Working in small batches</a:t>
            </a:r>
          </a:p>
          <a:p>
            <a:pPr lvl="1">
              <a:buClr>
                <a:srgbClr val="FFFFFF"/>
              </a:buClr>
              <a:buFont typeface="Courier New"/>
              <a:buChar char="o"/>
            </a:pPr>
            <a:r>
              <a:rPr lang="en-US">
                <a:gradFill flip="none"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580000" scaled="0"/>
                  <a:tileRect/>
                </a:gradFill>
                <a:effectLst>
                  <a:glow rad="38100">
                    <a:prstClr val="black">
                      <a:lumMod val="50000"/>
                      <a:lumOff val="50000"/>
                      <a:alpha val="20000"/>
                    </a:prst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ea typeface="Calibri"/>
                <a:cs typeface="Calibri"/>
              </a:rPr>
              <a:t>Managing testing, deployment, operations, development, and debugging all at the same time</a:t>
            </a:r>
          </a:p>
          <a:p>
            <a:pPr>
              <a:buClr>
                <a:srgbClr val="FFFFFF"/>
              </a:buClr>
            </a:pPr>
            <a:r>
              <a:rPr lang="en-US">
                <a:gradFill flip="none"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580000" scaled="0"/>
                  <a:tileRect/>
                </a:gradFill>
                <a:effectLst>
                  <a:glow rad="38100">
                    <a:prstClr val="black">
                      <a:lumMod val="50000"/>
                      <a:lumOff val="50000"/>
                      <a:alpha val="20000"/>
                    </a:prst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ea typeface="Calibri"/>
                <a:cs typeface="Calibri"/>
              </a:rPr>
              <a:t>In contrast to traditional development months, followed by testing months</a:t>
            </a:r>
            <a:endParaRPr lang="en-US" dirty="0">
              <a:gradFill flip="none"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580000" scaled="0"/>
                <a:tileRect/>
              </a:gradFill>
              <a:effectLst>
                <a:glow rad="38100">
                  <a:prstClr val="black">
                    <a:lumMod val="50000"/>
                    <a:lumOff val="50000"/>
                    <a:alpha val="20000"/>
                  </a:prstClr>
                </a:glow>
                <a:outerShdw blurRad="44450" dist="12700" dir="13860000" algn="tl" rotWithShape="0">
                  <a:srgbClr val="000000">
                    <a:alpha val="20000"/>
                  </a:srgbClr>
                </a:outerShdw>
              </a:effectLst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63836922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B9295F-6532-7167-E255-873CB2CC5D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E97AE7-2D9B-640D-08D9-CEDA591688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gradFill flip="none"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580000" scaled="0"/>
                  <a:tileRect/>
                </a:gradFill>
                <a:effectLst>
                  <a:glow rad="38100">
                    <a:prstClr val="black">
                      <a:lumMod val="65000"/>
                      <a:lumOff val="35000"/>
                      <a:alpha val="40000"/>
                    </a:prst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ea typeface="+mj-lt"/>
                <a:cs typeface="+mj-lt"/>
              </a:rPr>
              <a:t>Lead Time vs. Processing Time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33076F-0EF2-5BCA-E627-DB1FA66FC3A0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>
                <a:gradFill flip="none"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580000" scaled="0"/>
                  <a:tileRect/>
                </a:gradFill>
                <a:effectLst>
                  <a:glow rad="38100">
                    <a:prstClr val="black">
                      <a:lumMod val="50000"/>
                      <a:lumOff val="50000"/>
                      <a:alpha val="20000"/>
                    </a:prst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ea typeface="Calibri"/>
                <a:cs typeface="Calibri"/>
              </a:rPr>
              <a:t>Lead Time – what the customer sees</a:t>
            </a:r>
          </a:p>
          <a:p>
            <a:pPr lvl="1">
              <a:buClr>
                <a:srgbClr val="FFFFFF"/>
              </a:buClr>
              <a:buFont typeface="Courier New"/>
              <a:buChar char="o"/>
            </a:pPr>
            <a:r>
              <a:rPr lang="en-US">
                <a:gradFill flip="none"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580000" scaled="0"/>
                  <a:tileRect/>
                </a:gradFill>
                <a:effectLst>
                  <a:glow rad="38100">
                    <a:prstClr val="black">
                      <a:lumMod val="50000"/>
                      <a:lumOff val="50000"/>
                      <a:alpha val="20000"/>
                    </a:prst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ea typeface="Calibri"/>
                <a:cs typeface="Calibri"/>
              </a:rPr>
              <a:t>Total time from user request to feature completion</a:t>
            </a:r>
          </a:p>
          <a:p>
            <a:pPr lvl="1">
              <a:buClr>
                <a:srgbClr val="FFFFFF"/>
              </a:buClr>
              <a:buFont typeface="Courier New"/>
              <a:buChar char="o"/>
            </a:pPr>
            <a:r>
              <a:rPr lang="en-US">
                <a:gradFill flip="none"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580000" scaled="0"/>
                  <a:tileRect/>
                </a:gradFill>
                <a:effectLst>
                  <a:glow rad="38100">
                    <a:prstClr val="black">
                      <a:lumMod val="50000"/>
                      <a:lumOff val="50000"/>
                      <a:alpha val="20000"/>
                    </a:prst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ea typeface="Calibri"/>
                <a:cs typeface="Calibri"/>
              </a:rPr>
              <a:t>Ex. Customer asks for feature, receives it 30 days later.</a:t>
            </a:r>
          </a:p>
          <a:p>
            <a:pPr>
              <a:buClr>
                <a:srgbClr val="FFFFFF"/>
              </a:buClr>
            </a:pPr>
            <a:r>
              <a:rPr lang="en-US">
                <a:gradFill flip="none"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580000" scaled="0"/>
                  <a:tileRect/>
                </a:gradFill>
                <a:effectLst>
                  <a:glow rad="38100">
                    <a:prstClr val="black">
                      <a:lumMod val="50000"/>
                      <a:lumOff val="50000"/>
                      <a:alpha val="20000"/>
                    </a:prst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ea typeface="Calibri"/>
                <a:cs typeface="Calibri"/>
              </a:rPr>
              <a:t>Processing Time – also known as touch time</a:t>
            </a:r>
            <a:endParaRPr lang="en-US" dirty="0">
              <a:gradFill flip="none"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580000" scaled="0"/>
                <a:tileRect/>
              </a:gradFill>
              <a:effectLst>
                <a:glow rad="38100">
                  <a:prstClr val="black">
                    <a:lumMod val="50000"/>
                    <a:lumOff val="50000"/>
                    <a:alpha val="20000"/>
                  </a:prstClr>
                </a:glow>
                <a:outerShdw blurRad="44450" dist="12700" dir="13860000" algn="tl" rotWithShape="0">
                  <a:srgbClr val="000000">
                    <a:alpha val="20000"/>
                  </a:srgbClr>
                </a:outerShdw>
              </a:effectLst>
              <a:ea typeface="Calibri"/>
              <a:cs typeface="Calibri"/>
            </a:endParaRPr>
          </a:p>
          <a:p>
            <a:pPr lvl="1">
              <a:buClr>
                <a:srgbClr val="FFFFFF"/>
              </a:buClr>
              <a:buFont typeface="Courier New"/>
              <a:buChar char="o"/>
            </a:pPr>
            <a:r>
              <a:rPr lang="en-US">
                <a:gradFill flip="none"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580000" scaled="0"/>
                  <a:tileRect/>
                </a:gradFill>
                <a:effectLst>
                  <a:glow rad="38100">
                    <a:prstClr val="black">
                      <a:lumMod val="50000"/>
                      <a:lumOff val="50000"/>
                      <a:alpha val="20000"/>
                    </a:prst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ea typeface="Calibri"/>
                <a:cs typeface="Calibri"/>
              </a:rPr>
              <a:t>Actual time an engineer spends actively coding or testing requested feature</a:t>
            </a:r>
            <a:endParaRPr lang="en-US" dirty="0">
              <a:gradFill flip="none"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580000" scaled="0"/>
                <a:tileRect/>
              </a:gradFill>
              <a:effectLst>
                <a:glow rad="38100">
                  <a:prstClr val="black">
                    <a:lumMod val="50000"/>
                    <a:lumOff val="50000"/>
                    <a:alpha val="20000"/>
                  </a:prstClr>
                </a:glow>
                <a:outerShdw blurRad="44450" dist="12700" dir="13860000" algn="tl" rotWithShape="0">
                  <a:srgbClr val="000000">
                    <a:alpha val="20000"/>
                  </a:srgbClr>
                </a:outerShdw>
              </a:effectLst>
              <a:ea typeface="Calibri"/>
              <a:cs typeface="Calibri"/>
            </a:endParaRPr>
          </a:p>
          <a:p>
            <a:pPr lvl="1">
              <a:buClr>
                <a:srgbClr val="FFFFFF"/>
              </a:buClr>
              <a:buFont typeface="Courier New"/>
              <a:buChar char="o"/>
            </a:pPr>
            <a:r>
              <a:rPr lang="en-US">
                <a:gradFill flip="none"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580000" scaled="0"/>
                  <a:tileRect/>
                </a:gradFill>
                <a:effectLst>
                  <a:glow rad="38100">
                    <a:prstClr val="black">
                      <a:lumMod val="50000"/>
                      <a:lumOff val="50000"/>
                      <a:alpha val="20000"/>
                    </a:prst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ea typeface="Calibri"/>
                <a:cs typeface="Calibri"/>
              </a:rPr>
              <a:t>Ex. Developer sits down and writes code for 2 hours</a:t>
            </a:r>
            <a:endParaRPr lang="en-US" dirty="0">
              <a:gradFill flip="none"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580000" scaled="0"/>
                <a:tileRect/>
              </a:gradFill>
              <a:effectLst>
                <a:glow rad="38100">
                  <a:prstClr val="black">
                    <a:lumMod val="50000"/>
                    <a:lumOff val="50000"/>
                    <a:alpha val="20000"/>
                  </a:prstClr>
                </a:glow>
                <a:outerShdw blurRad="44450" dist="12700" dir="13860000" algn="tl" rotWithShape="0">
                  <a:srgbClr val="000000">
                    <a:alpha val="20000"/>
                  </a:srgbClr>
                </a:outerShdw>
              </a:effectLst>
              <a:ea typeface="Calibri"/>
              <a:cs typeface="Calibri"/>
            </a:endParaRP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EBD19067-42CF-E468-8726-C3890193788C}"/>
              </a:ext>
            </a:extLst>
          </p:cNvPr>
          <p:cNvSpPr txBox="1">
            <a:spLocks/>
          </p:cNvSpPr>
          <p:nvPr/>
        </p:nvSpPr>
        <p:spPr>
          <a:xfrm>
            <a:off x="6090559" y="2063146"/>
            <a:ext cx="4995334" cy="3649134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85750" indent="-28575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8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6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1200150" indent="-28575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543050" indent="-17145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2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2000250" indent="-17145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2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2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2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2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2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>
              <a:buClr>
                <a:prstClr val="white"/>
              </a:buClr>
            </a:pPr>
            <a:r>
              <a:rPr lang="en-US" dirty="0">
                <a:gradFill flip="none"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580000" scaled="0"/>
                  <a:tileRect/>
                </a:gradFill>
                <a:effectLst>
                  <a:glow rad="38100">
                    <a:prstClr val="black">
                      <a:lumMod val="50000"/>
                      <a:lumOff val="50000"/>
                      <a:alpha val="20000"/>
                    </a:prst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ea typeface="Calibri"/>
                <a:cs typeface="Calibri"/>
              </a:rPr>
              <a:t>Waiting in queues can </a:t>
            </a:r>
            <a:r>
              <a:rPr lang="en-US">
                <a:gradFill flip="none"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580000" scaled="0"/>
                  <a:tileRect/>
                </a:gradFill>
                <a:effectLst>
                  <a:glow rad="38100">
                    <a:prstClr val="black">
                      <a:lumMod val="50000"/>
                      <a:lumOff val="50000"/>
                      <a:alpha val="20000"/>
                    </a:prst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ea typeface="Calibri"/>
                <a:cs typeface="Calibri"/>
              </a:rPr>
              <a:t>needlessly increase lead time, even if processing is short</a:t>
            </a:r>
            <a:endParaRPr lang="en-US" dirty="0">
              <a:gradFill flip="none"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580000" scaled="0"/>
                <a:tileRect/>
              </a:gradFill>
              <a:effectLst>
                <a:glow rad="38100">
                  <a:prstClr val="black">
                    <a:lumMod val="50000"/>
                    <a:lumOff val="50000"/>
                    <a:alpha val="20000"/>
                  </a:prstClr>
                </a:glow>
                <a:outerShdw blurRad="44450" dist="12700" dir="13860000" algn="tl" rotWithShape="0">
                  <a:srgbClr val="000000">
                    <a:alpha val="20000"/>
                  </a:srgbClr>
                </a:outerShdw>
              </a:effectLst>
              <a:ea typeface="Calibri"/>
              <a:cs typeface="Calibri"/>
            </a:endParaRPr>
          </a:p>
          <a:p>
            <a:pPr lvl="1">
              <a:buClr>
                <a:srgbClr val="FFFFFF"/>
              </a:buClr>
              <a:buFont typeface="Courier New,monospace"/>
              <a:buChar char="o"/>
            </a:pPr>
            <a:r>
              <a:rPr lang="en-US">
                <a:gradFill flip="none"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580000" scaled="0"/>
                  <a:tileRect/>
                </a:gradFill>
                <a:effectLst>
                  <a:glow rad="38100">
                    <a:prstClr val="black">
                      <a:lumMod val="50000"/>
                      <a:lumOff val="50000"/>
                      <a:alpha val="20000"/>
                    </a:prst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ea typeface="Calibri"/>
                <a:cs typeface="Calibri"/>
              </a:rPr>
              <a:t>Waiting for approvals, testing environments, deployment windows, etc.</a:t>
            </a:r>
            <a:endParaRPr lang="en-US" dirty="0">
              <a:gradFill flip="none"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580000" scaled="0"/>
                <a:tileRect/>
              </a:gradFill>
              <a:effectLst>
                <a:glow rad="38100">
                  <a:prstClr val="black">
                    <a:lumMod val="50000"/>
                    <a:lumOff val="50000"/>
                    <a:alpha val="20000"/>
                  </a:prstClr>
                </a:glow>
                <a:outerShdw blurRad="44450" dist="12700" dir="13860000" algn="tl" rotWithShape="0">
                  <a:srgbClr val="000000">
                    <a:alpha val="20000"/>
                  </a:srgbClr>
                </a:outerShdw>
              </a:effectLst>
              <a:ea typeface="Calibri"/>
              <a:cs typeface="Calibri"/>
            </a:endParaRPr>
          </a:p>
          <a:p>
            <a:pPr>
              <a:buClr>
                <a:srgbClr val="FFFFFF"/>
              </a:buClr>
            </a:pPr>
            <a:r>
              <a:rPr lang="en-US" dirty="0">
                <a:gradFill flip="none"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580000" scaled="0"/>
                  <a:tileRect/>
                </a:gradFill>
                <a:effectLst>
                  <a:glow rad="38100">
                    <a:prstClr val="black">
                      <a:lumMod val="50000"/>
                      <a:lumOff val="50000"/>
                      <a:alpha val="20000"/>
                    </a:prst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ea typeface="Calibri"/>
                <a:cs typeface="Calibri"/>
              </a:rPr>
              <a:t>Optimizing engineers only speeds processing time (2 hrs.), not lead time (30 days)</a:t>
            </a:r>
          </a:p>
          <a:p>
            <a:pPr lvl="1">
              <a:buClr>
                <a:srgbClr val="FFFFFF"/>
              </a:buClr>
              <a:buFont typeface="Courier New"/>
              <a:buChar char="o"/>
            </a:pPr>
            <a:endParaRPr lang="en-US" dirty="0">
              <a:gradFill flip="none"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580000" scaled="0"/>
                <a:tileRect/>
              </a:gradFill>
              <a:effectLst>
                <a:glow rad="38100">
                  <a:prstClr val="black">
                    <a:lumMod val="50000"/>
                    <a:lumOff val="50000"/>
                    <a:alpha val="20000"/>
                  </a:prstClr>
                </a:glow>
                <a:outerShdw blurRad="44450" dist="12700" dir="13860000" algn="tl" rotWithShape="0">
                  <a:srgbClr val="000000">
                    <a:alpha val="20000"/>
                  </a:srgbClr>
                </a:outerShdw>
              </a:effectLst>
              <a:ea typeface="Calibri"/>
              <a:cs typeface="Calibri"/>
            </a:endParaRPr>
          </a:p>
          <a:p>
            <a:pPr>
              <a:buClr>
                <a:srgbClr val="FFFFFF"/>
              </a:buClr>
            </a:pPr>
            <a:endParaRPr lang="en-US" dirty="0">
              <a:gradFill flip="none"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580000" scaled="0"/>
                <a:tileRect/>
              </a:gradFill>
              <a:effectLst>
                <a:glow rad="38100">
                  <a:prstClr val="black">
                    <a:lumMod val="50000"/>
                    <a:lumOff val="50000"/>
                    <a:alpha val="20000"/>
                  </a:prstClr>
                </a:glow>
                <a:outerShdw blurRad="44450" dist="12700" dir="13860000" algn="tl" rotWithShape="0">
                  <a:srgbClr val="000000">
                    <a:alpha val="20000"/>
                  </a:srgbClr>
                </a:outerShdw>
              </a:effectLst>
              <a:ea typeface="Calibri"/>
              <a:cs typeface="Calibri"/>
            </a:endParaRPr>
          </a:p>
          <a:p>
            <a:pPr lvl="1">
              <a:buClr>
                <a:srgbClr val="FFFFFF"/>
              </a:buClr>
              <a:buFont typeface="Courier New"/>
              <a:buChar char="o"/>
            </a:pPr>
            <a:endParaRPr lang="en-US" dirty="0">
              <a:gradFill flip="none"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580000" scaled="0"/>
                <a:tileRect/>
              </a:gradFill>
              <a:effectLst>
                <a:glow rad="38100">
                  <a:prstClr val="black">
                    <a:lumMod val="50000"/>
                    <a:lumOff val="50000"/>
                    <a:alpha val="20000"/>
                  </a:prstClr>
                </a:glow>
                <a:outerShdw blurRad="44450" dist="12700" dir="13860000" algn="tl" rotWithShape="0">
                  <a:srgbClr val="000000">
                    <a:alpha val="20000"/>
                  </a:srgbClr>
                </a:outerShdw>
              </a:effectLst>
              <a:ea typeface="Calibri"/>
              <a:cs typeface="Calibri"/>
            </a:endParaRPr>
          </a:p>
        </p:txBody>
      </p:sp>
      <p:pic>
        <p:nvPicPr>
          <p:cNvPr id="6" name="Picture 5" descr="A diagram of a process&#10;&#10;AI-generated content may be incorrect.">
            <a:extLst>
              <a:ext uri="{FF2B5EF4-FFF2-40B4-BE49-F238E27FC236}">
                <a16:creationId xmlns:a16="http://schemas.microsoft.com/office/drawing/2014/main" id="{A6916CE2-AB66-2B8B-8689-1E96A51087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19849" y="4191680"/>
            <a:ext cx="4332515" cy="190364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0EEFD62-AF5A-8B30-49C3-C44CBA195B55}"/>
              </a:ext>
            </a:extLst>
          </p:cNvPr>
          <p:cNvSpPr txBox="1"/>
          <p:nvPr/>
        </p:nvSpPr>
        <p:spPr>
          <a:xfrm>
            <a:off x="6422571" y="6096000"/>
            <a:ext cx="4245428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400" dirty="0">
                <a:solidFill>
                  <a:schemeClr val="tx2">
                    <a:lumMod val="90000"/>
                  </a:schemeClr>
                </a:solidFill>
                <a:ea typeface="Calibri"/>
                <a:cs typeface="Calibri"/>
              </a:rPr>
              <a:t>Example of Lead Time vs. Process Time – </a:t>
            </a:r>
            <a:br>
              <a:rPr lang="en-US" sz="1400" dirty="0">
                <a:solidFill>
                  <a:schemeClr val="tx2">
                    <a:lumMod val="90000"/>
                  </a:schemeClr>
                </a:solidFill>
                <a:ea typeface="Calibri"/>
                <a:cs typeface="Calibri"/>
              </a:rPr>
            </a:br>
            <a:r>
              <a:rPr lang="en-US" sz="1400">
                <a:solidFill>
                  <a:schemeClr val="tx2">
                    <a:lumMod val="90000"/>
                  </a:schemeClr>
                </a:solidFill>
                <a:ea typeface="Calibri"/>
                <a:cs typeface="Calibri"/>
              </a:rPr>
              <a:t>Sourced from "The DevOps Handbook" textbook</a:t>
            </a:r>
            <a:endParaRPr lang="en-US" sz="1400">
              <a:solidFill>
                <a:schemeClr val="tx2">
                  <a:lumMod val="9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4855057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444576-C1A6-00AA-C208-3D38CD938F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74DC19-CE43-9E66-1474-DCD76343CE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gradFill flip="none"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580000" scaled="0"/>
                  <a:tileRect/>
                </a:gradFill>
                <a:effectLst>
                  <a:glow rad="38100">
                    <a:prstClr val="black">
                      <a:lumMod val="65000"/>
                      <a:lumOff val="35000"/>
                      <a:alpha val="40000"/>
                    </a:prst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ea typeface="+mj-lt"/>
                <a:cs typeface="+mj-lt"/>
              </a:rPr>
              <a:t>Deployment Lead Times Stall</a:t>
            </a:r>
            <a:endParaRPr lang="en-US" dirty="0">
              <a:gradFill flip="none"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580000" scaled="0"/>
                <a:tileRect/>
              </a:gradFill>
              <a:effectLst>
                <a:glow rad="38100">
                  <a:prstClr val="black">
                    <a:lumMod val="65000"/>
                    <a:lumOff val="35000"/>
                    <a:alpha val="40000"/>
                  </a:prstClr>
                </a:glow>
                <a:outerShdw blurRad="28575" dist="38100" dir="14040000" algn="tl" rotWithShape="0">
                  <a:srgbClr val="000000">
                    <a:alpha val="25000"/>
                  </a:srgbClr>
                </a:outerShdw>
              </a:effectLst>
              <a:ea typeface="Calibri Light"/>
              <a:cs typeface="Calibri Ligh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6667F5-C0C8-4481-F464-E5F0B0709565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>
                <a:gradFill flip="none"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580000" scaled="0"/>
                  <a:tileRect/>
                </a:gradFill>
                <a:effectLst>
                  <a:glow rad="38100">
                    <a:prstClr val="black">
                      <a:lumMod val="50000"/>
                      <a:lumOff val="50000"/>
                      <a:alpha val="20000"/>
                    </a:prst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ea typeface="Calibri"/>
                <a:cs typeface="Calibri"/>
              </a:rPr>
              <a:t>Deployments can take months in tightly coupled, </a:t>
            </a:r>
            <a:r>
              <a:rPr lang="en-US">
                <a:gradFill flip="none"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580000" scaled="0"/>
                  <a:tileRect/>
                </a:gradFill>
                <a:effectLst>
                  <a:glow rad="38100">
                    <a:prstClr val="black">
                      <a:lumMod val="50000"/>
                      <a:lumOff val="50000"/>
                      <a:alpha val="20000"/>
                    </a:prst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ea typeface="Calibri"/>
                <a:cs typeface="Calibri"/>
              </a:rPr>
              <a:t>monolithic</a:t>
            </a:r>
            <a:r>
              <a:rPr lang="en-US" dirty="0">
                <a:gradFill flip="none"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580000" scaled="0"/>
                  <a:tileRect/>
                </a:gradFill>
                <a:effectLst>
                  <a:glow rad="38100">
                    <a:prstClr val="black">
                      <a:lumMod val="50000"/>
                      <a:lumOff val="50000"/>
                      <a:alpha val="20000"/>
                    </a:prst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ea typeface="Calibri"/>
                <a:cs typeface="Calibri"/>
              </a:rPr>
              <a:t> architectures</a:t>
            </a:r>
          </a:p>
          <a:p>
            <a:pPr lvl="1">
              <a:buClr>
                <a:srgbClr val="FFFFFF"/>
              </a:buClr>
              <a:buFont typeface="Courier New"/>
              <a:buChar char="o"/>
            </a:pPr>
            <a:r>
              <a:rPr lang="en-US" dirty="0">
                <a:gradFill flip="none"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580000" scaled="0"/>
                  <a:tileRect/>
                </a:gradFill>
                <a:effectLst>
                  <a:glow rad="38100">
                    <a:prstClr val="black">
                      <a:lumMod val="50000"/>
                      <a:lumOff val="50000"/>
                      <a:alpha val="20000"/>
                    </a:prst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ea typeface="Calibri"/>
                <a:cs typeface="Calibri"/>
              </a:rPr>
              <a:t>Code is tangled together, testing requires massive integration </a:t>
            </a:r>
            <a:r>
              <a:rPr lang="en-US">
                <a:gradFill flip="none"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580000" scaled="0"/>
                  <a:tileRect/>
                </a:gradFill>
                <a:effectLst>
                  <a:glow rad="38100">
                    <a:prstClr val="black">
                      <a:lumMod val="50000"/>
                      <a:lumOff val="50000"/>
                      <a:alpha val="20000"/>
                    </a:prst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ea typeface="Calibri"/>
                <a:cs typeface="Calibri"/>
              </a:rPr>
              <a:t>environments</a:t>
            </a:r>
            <a:r>
              <a:rPr lang="en-US" dirty="0">
                <a:gradFill flip="none"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580000" scaled="0"/>
                  <a:tileRect/>
                </a:gradFill>
                <a:effectLst>
                  <a:glow rad="38100">
                    <a:prstClr val="black">
                      <a:lumMod val="50000"/>
                      <a:lumOff val="50000"/>
                      <a:alpha val="20000"/>
                    </a:prst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ea typeface="Calibri"/>
                <a:cs typeface="Calibri"/>
              </a:rPr>
              <a:t>, teams fight for use</a:t>
            </a:r>
          </a:p>
          <a:p>
            <a:pPr lvl="1">
              <a:buClr>
                <a:srgbClr val="FFFFFF"/>
              </a:buClr>
              <a:buFont typeface="Courier New"/>
              <a:buChar char="o"/>
            </a:pPr>
            <a:r>
              <a:rPr lang="en-US" dirty="0">
                <a:gradFill flip="none"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580000" scaled="0"/>
                  <a:tileRect/>
                </a:gradFill>
                <a:effectLst>
                  <a:glow rad="38100">
                    <a:prstClr val="black">
                      <a:lumMod val="50000"/>
                      <a:lumOff val="50000"/>
                      <a:alpha val="20000"/>
                    </a:prst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ea typeface="Calibri"/>
                <a:cs typeface="Calibri"/>
              </a:rPr>
              <a:t>Including lots of manual testing, various approval </a:t>
            </a:r>
            <a:r>
              <a:rPr lang="en-US">
                <a:gradFill flip="none"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580000" scaled="0"/>
                  <a:tileRect/>
                </a:gradFill>
                <a:effectLst>
                  <a:glow rad="38100">
                    <a:prstClr val="black">
                      <a:lumMod val="50000"/>
                      <a:lumOff val="50000"/>
                      <a:alpha val="20000"/>
                    </a:prst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ea typeface="Calibri"/>
                <a:cs typeface="Calibri"/>
              </a:rPr>
              <a:t>processes – common</a:t>
            </a:r>
            <a:r>
              <a:rPr lang="en-US" dirty="0">
                <a:gradFill flip="none"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580000" scaled="0"/>
                  <a:tileRect/>
                </a:gradFill>
                <a:effectLst>
                  <a:glow rad="38100">
                    <a:prstClr val="black">
                      <a:lumMod val="50000"/>
                      <a:lumOff val="50000"/>
                      <a:alpha val="20000"/>
                    </a:prst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ea typeface="Calibri"/>
                <a:cs typeface="Calibri"/>
              </a:rPr>
              <a:t> in large, traditional organizations</a:t>
            </a:r>
            <a:endParaRPr lang="en-US" dirty="0"/>
          </a:p>
          <a:p>
            <a:pPr>
              <a:buClr>
                <a:srgbClr val="FFFFFF"/>
              </a:buClr>
            </a:pPr>
            <a:r>
              <a:rPr lang="en-US">
                <a:gradFill flip="none"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580000" scaled="0"/>
                  <a:tileRect/>
                </a:gradFill>
                <a:effectLst>
                  <a:glow rad="38100">
                    <a:prstClr val="black">
                      <a:lumMod val="50000"/>
                      <a:lumOff val="50000"/>
                      <a:alpha val="20000"/>
                    </a:prst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ea typeface="Calibri"/>
                <a:cs typeface="Calibri"/>
              </a:rPr>
              <a:t>Isolated development can cause integration hell</a:t>
            </a:r>
            <a:endParaRPr lang="en-US" dirty="0">
              <a:gradFill flip="none"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580000" scaled="0"/>
                <a:tileRect/>
              </a:gradFill>
              <a:effectLst>
                <a:glow rad="38100">
                  <a:prstClr val="black">
                    <a:lumMod val="50000"/>
                    <a:lumOff val="50000"/>
                    <a:alpha val="20000"/>
                  </a:prstClr>
                </a:glow>
                <a:outerShdw blurRad="44450" dist="12700" dir="13860000" algn="tl" rotWithShape="0">
                  <a:srgbClr val="000000">
                    <a:alpha val="20000"/>
                  </a:srgbClr>
                </a:outerShdw>
              </a:effectLst>
              <a:ea typeface="Calibri"/>
              <a:cs typeface="Calibri"/>
            </a:endParaRPr>
          </a:p>
          <a:p>
            <a:pPr lvl="1">
              <a:buClr>
                <a:srgbClr val="FFFFFF"/>
              </a:buClr>
              <a:buFont typeface="Courier New"/>
              <a:buChar char="o"/>
            </a:pPr>
            <a:r>
              <a:rPr lang="en-US">
                <a:gradFill flip="none"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580000" scaled="0"/>
                  <a:tileRect/>
                </a:gradFill>
                <a:effectLst>
                  <a:glow rad="38100">
                    <a:prstClr val="black">
                      <a:lumMod val="50000"/>
                      <a:lumOff val="50000"/>
                      <a:alpha val="20000"/>
                    </a:prst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ea typeface="Calibri"/>
                <a:cs typeface="Calibri"/>
              </a:rPr>
              <a:t>Software grouped in large batches risks unable to build, feature conflicts, or test failures</a:t>
            </a:r>
            <a:endParaRPr lang="en-US" dirty="0">
              <a:gradFill flip="none"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580000" scaled="0"/>
                <a:tileRect/>
              </a:gradFill>
              <a:effectLst>
                <a:glow rad="38100">
                  <a:prstClr val="black">
                    <a:lumMod val="50000"/>
                    <a:lumOff val="50000"/>
                    <a:alpha val="20000"/>
                  </a:prstClr>
                </a:glow>
                <a:outerShdw blurRad="44450" dist="12700" dir="13860000" algn="tl" rotWithShape="0">
                  <a:srgbClr val="000000">
                    <a:alpha val="20000"/>
                  </a:srgbClr>
                </a:outerShdw>
              </a:effectLst>
              <a:ea typeface="Calibri"/>
              <a:cs typeface="Calibri"/>
            </a:endParaRPr>
          </a:p>
          <a:p>
            <a:pPr>
              <a:buClr>
                <a:srgbClr val="FFFFFF"/>
              </a:buClr>
            </a:pPr>
            <a:endParaRPr lang="en-US" dirty="0">
              <a:gradFill flip="none"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580000" scaled="0"/>
                <a:tileRect/>
              </a:gradFill>
              <a:effectLst>
                <a:glow rad="38100">
                  <a:prstClr val="black">
                    <a:lumMod val="50000"/>
                    <a:lumOff val="50000"/>
                    <a:alpha val="20000"/>
                  </a:prstClr>
                </a:glow>
                <a:outerShdw blurRad="44450" dist="12700" dir="13860000" algn="tl" rotWithShape="0">
                  <a:srgbClr val="000000">
                    <a:alpha val="20000"/>
                  </a:srgbClr>
                </a:outerShdw>
              </a:effectLst>
              <a:ea typeface="Calibri"/>
              <a:cs typeface="Calibri"/>
            </a:endParaRPr>
          </a:p>
        </p:txBody>
      </p:sp>
      <p:pic>
        <p:nvPicPr>
          <p:cNvPr id="4" name="Picture 3" descr="A diagram of a system&#10;&#10;AI-generated content may be incorrect.">
            <a:extLst>
              <a:ext uri="{FF2B5EF4-FFF2-40B4-BE49-F238E27FC236}">
                <a16:creationId xmlns:a16="http://schemas.microsoft.com/office/drawing/2014/main" id="{01EB29FC-87A1-DB35-49B8-216F27BB41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5549" y="2922813"/>
            <a:ext cx="5214258" cy="1461408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CE634F59-2A83-298D-0951-B73FD7DD60FE}"/>
              </a:ext>
            </a:extLst>
          </p:cNvPr>
          <p:cNvSpPr txBox="1"/>
          <p:nvPr/>
        </p:nvSpPr>
        <p:spPr>
          <a:xfrm>
            <a:off x="6300107" y="4381500"/>
            <a:ext cx="4245428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400">
                <a:solidFill>
                  <a:schemeClr val="tx2">
                    <a:lumMod val="90000"/>
                  </a:schemeClr>
                </a:solidFill>
                <a:ea typeface="Calibri"/>
                <a:cs typeface="Calibri"/>
              </a:rPr>
              <a:t>Example of a large organization deployment – </a:t>
            </a:r>
            <a:br>
              <a:rPr lang="en-US" sz="1400" dirty="0">
                <a:solidFill>
                  <a:schemeClr val="tx2">
                    <a:lumMod val="90000"/>
                  </a:schemeClr>
                </a:solidFill>
                <a:ea typeface="Calibri"/>
                <a:cs typeface="Calibri"/>
              </a:rPr>
            </a:br>
            <a:r>
              <a:rPr lang="en-US" sz="1400" dirty="0">
                <a:solidFill>
                  <a:schemeClr val="tx2">
                    <a:lumMod val="90000"/>
                  </a:schemeClr>
                </a:solidFill>
                <a:ea typeface="Calibri"/>
                <a:cs typeface="Calibri"/>
              </a:rPr>
              <a:t>Sourced from "The DevOps Handbook" textbook</a:t>
            </a:r>
            <a:endParaRPr lang="en-US" sz="1400" dirty="0">
              <a:solidFill>
                <a:schemeClr val="tx2">
                  <a:lumMod val="9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1952388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006525-5127-D2CA-243D-E71E9D51F0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AE1C30-6931-D200-DED7-8E40D1BA12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gradFill flip="none"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580000" scaled="0"/>
                  <a:tileRect/>
                </a:gradFill>
                <a:effectLst>
                  <a:glow rad="38100">
                    <a:prstClr val="black">
                      <a:lumMod val="65000"/>
                      <a:lumOff val="35000"/>
                      <a:alpha val="40000"/>
                    </a:prst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ea typeface="+mj-lt"/>
                <a:cs typeface="+mj-lt"/>
              </a:rPr>
              <a:t>The DevOps Ideal</a:t>
            </a:r>
            <a:endParaRPr lang="en-US">
              <a:gradFill flip="none"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580000" scaled="0"/>
                <a:tileRect/>
              </a:gradFill>
              <a:effectLst>
                <a:glow rad="38100">
                  <a:prstClr val="black">
                    <a:lumMod val="65000"/>
                    <a:lumOff val="35000"/>
                    <a:alpha val="40000"/>
                  </a:prstClr>
                </a:glow>
                <a:outerShdw blurRad="28575" dist="38100" dir="14040000" algn="tl" rotWithShape="0">
                  <a:srgbClr val="000000">
                    <a:alpha val="25000"/>
                  </a:srgbClr>
                </a:outerShdw>
              </a:effectLst>
              <a:ea typeface="Calibri Light"/>
              <a:cs typeface="Calibri Ligh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E865BD-2064-5C26-62C1-6FE19895A6AC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>
                <a:gradFill flip="none"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580000" scaled="0"/>
                  <a:tileRect/>
                </a:gradFill>
                <a:effectLst>
                  <a:glow rad="38100">
                    <a:prstClr val="black">
                      <a:lumMod val="50000"/>
                      <a:lumOff val="50000"/>
                      <a:alpha val="20000"/>
                    </a:prst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ea typeface="Calibri"/>
                <a:cs typeface="Calibri"/>
              </a:rPr>
              <a:t>DevOps aims to optimize workflows for fast feedback, frequent integrations, and modular architecture</a:t>
            </a:r>
          </a:p>
          <a:p>
            <a:pPr lvl="1">
              <a:buClr>
                <a:srgbClr val="FFFFFF"/>
              </a:buClr>
              <a:buFont typeface="Courier New"/>
              <a:buChar char="o"/>
            </a:pPr>
            <a:r>
              <a:rPr lang="en-US" dirty="0">
                <a:gradFill flip="none"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580000" scaled="0"/>
                  <a:tileRect/>
                </a:gradFill>
                <a:effectLst>
                  <a:glow rad="38100">
                    <a:prstClr val="black">
                      <a:lumMod val="50000"/>
                      <a:lumOff val="50000"/>
                      <a:alpha val="20000"/>
                    </a:prst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ea typeface="Calibri"/>
                <a:cs typeface="Calibri"/>
              </a:rPr>
              <a:t>Developers can make small changes, have automated systems check instantly</a:t>
            </a:r>
          </a:p>
          <a:p>
            <a:pPr lvl="1">
              <a:buClr>
                <a:srgbClr val="FFFFFF"/>
              </a:buClr>
              <a:buFont typeface="Courier New"/>
              <a:buChar char="o"/>
            </a:pPr>
            <a:r>
              <a:rPr lang="en-US">
                <a:gradFill flip="none"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580000" scaled="0"/>
                  <a:tileRect/>
                </a:gradFill>
                <a:effectLst>
                  <a:glow rad="38100">
                    <a:prstClr val="black">
                      <a:lumMod val="50000"/>
                      <a:lumOff val="50000"/>
                      <a:alpha val="20000"/>
                    </a:prst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ea typeface="Calibri"/>
                <a:cs typeface="Calibri"/>
              </a:rPr>
              <a:t>Deploy in small batches – easier to spot bugs</a:t>
            </a:r>
            <a:endParaRPr lang="en-US" dirty="0">
              <a:gradFill flip="none"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580000" scaled="0"/>
                <a:tileRect/>
              </a:gradFill>
              <a:effectLst>
                <a:glow rad="38100">
                  <a:prstClr val="black">
                    <a:lumMod val="50000"/>
                    <a:lumOff val="50000"/>
                    <a:alpha val="20000"/>
                  </a:prstClr>
                </a:glow>
                <a:outerShdw blurRad="44450" dist="12700" dir="13860000" algn="tl" rotWithShape="0">
                  <a:srgbClr val="000000">
                    <a:alpha val="20000"/>
                  </a:srgbClr>
                </a:outerShdw>
              </a:effectLst>
              <a:ea typeface="Calibri"/>
              <a:cs typeface="Calibri"/>
            </a:endParaRPr>
          </a:p>
          <a:p>
            <a:pPr lvl="1">
              <a:buClr>
                <a:srgbClr val="FFFFFF"/>
              </a:buClr>
              <a:buFont typeface="Courier New"/>
              <a:buChar char="o"/>
            </a:pPr>
            <a:r>
              <a:rPr lang="en-US" dirty="0">
                <a:gradFill flip="none"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580000" scaled="0"/>
                  <a:tileRect/>
                </a:gradFill>
                <a:effectLst>
                  <a:glow rad="38100">
                    <a:prstClr val="black">
                      <a:lumMod val="50000"/>
                      <a:lumOff val="50000"/>
                      <a:alpha val="20000"/>
                    </a:prst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ea typeface="Calibri"/>
                <a:cs typeface="Calibri"/>
              </a:rPr>
              <a:t>Loosely coupled </a:t>
            </a:r>
            <a:r>
              <a:rPr lang="en-US">
                <a:gradFill flip="none"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580000" scaled="0"/>
                  <a:tileRect/>
                </a:gradFill>
                <a:effectLst>
                  <a:glow rad="38100">
                    <a:prstClr val="black">
                      <a:lumMod val="50000"/>
                      <a:lumOff val="50000"/>
                      <a:alpha val="20000"/>
                    </a:prst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ea typeface="Calibri"/>
                <a:cs typeface="Calibri"/>
              </a:rPr>
              <a:t>architecture allows teams to update their specific features independently</a:t>
            </a:r>
            <a:endParaRPr lang="en-US" dirty="0">
              <a:gradFill flip="none"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580000" scaled="0"/>
                <a:tileRect/>
              </a:gradFill>
              <a:effectLst>
                <a:glow rad="38100">
                  <a:prstClr val="black">
                    <a:lumMod val="50000"/>
                    <a:lumOff val="50000"/>
                    <a:alpha val="20000"/>
                  </a:prstClr>
                </a:glow>
                <a:outerShdw blurRad="44450" dist="12700" dir="13860000" algn="tl" rotWithShape="0">
                  <a:srgbClr val="000000">
                    <a:alpha val="20000"/>
                  </a:srgbClr>
                </a:outerShdw>
              </a:effectLst>
              <a:ea typeface="Calibri"/>
              <a:cs typeface="Calibri"/>
            </a:endParaRPr>
          </a:p>
          <a:p>
            <a:pPr>
              <a:buClr>
                <a:srgbClr val="FFFFFF"/>
              </a:buClr>
            </a:pPr>
            <a:r>
              <a:rPr lang="en-US">
                <a:gradFill flip="none"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580000" scaled="0"/>
                  <a:tileRect/>
                </a:gradFill>
                <a:effectLst>
                  <a:glow rad="38100">
                    <a:prstClr val="black">
                      <a:lumMod val="50000"/>
                      <a:lumOff val="50000"/>
                      <a:alpha val="20000"/>
                    </a:prst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ea typeface="Calibri"/>
                <a:cs typeface="Calibri"/>
              </a:rPr>
              <a:t>Allows for faster development time, less </a:t>
            </a:r>
            <a:r>
              <a:rPr lang="en-US" err="1">
                <a:gradFill flip="none"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580000" scaled="0"/>
                  <a:tileRect/>
                </a:gradFill>
                <a:effectLst>
                  <a:glow rad="38100">
                    <a:prstClr val="black">
                      <a:lumMod val="50000"/>
                      <a:lumOff val="50000"/>
                      <a:alpha val="20000"/>
                    </a:prst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ea typeface="Calibri"/>
                <a:cs typeface="Calibri"/>
              </a:rPr>
              <a:t>bottlene</a:t>
            </a:r>
            <a:r>
              <a:rPr lang="en-US">
                <a:gradFill flip="none"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580000" scaled="0"/>
                  <a:tileRect/>
                </a:gradFill>
                <a:effectLst>
                  <a:glow rad="38100">
                    <a:prstClr val="black">
                      <a:lumMod val="50000"/>
                      <a:lumOff val="50000"/>
                      <a:alpha val="20000"/>
                    </a:prst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ea typeface="Calibri"/>
                <a:cs typeface="Calibri"/>
              </a:rPr>
              <a:t>cks</a:t>
            </a:r>
          </a:p>
        </p:txBody>
      </p:sp>
    </p:spTree>
    <p:extLst>
      <p:ext uri="{BB962C8B-B14F-4D97-AF65-F5344CB8AC3E}">
        <p14:creationId xmlns:p14="http://schemas.microsoft.com/office/powerpoint/2010/main" val="4055776389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elestial">
  <a:themeElements>
    <a:clrScheme name="Celestial">
      <a:dk1>
        <a:sysClr val="windowText" lastClr="000000"/>
      </a:dk1>
      <a:lt1>
        <a:sysClr val="window" lastClr="FFFFFF"/>
      </a:lt1>
      <a:dk2>
        <a:srgbClr val="18276C"/>
      </a:dk2>
      <a:lt2>
        <a:srgbClr val="EBEBEB"/>
      </a:lt2>
      <a:accent1>
        <a:srgbClr val="AC3EC1"/>
      </a:accent1>
      <a:accent2>
        <a:srgbClr val="477BD1"/>
      </a:accent2>
      <a:accent3>
        <a:srgbClr val="46B298"/>
      </a:accent3>
      <a:accent4>
        <a:srgbClr val="90BA4C"/>
      </a:accent4>
      <a:accent5>
        <a:srgbClr val="DD9D31"/>
      </a:accent5>
      <a:accent6>
        <a:srgbClr val="E25247"/>
      </a:accent6>
      <a:hlink>
        <a:srgbClr val="C573D2"/>
      </a:hlink>
      <a:folHlink>
        <a:srgbClr val="CCAEE8"/>
      </a:folHlink>
    </a:clrScheme>
    <a:fontScheme name="Celestial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elestial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lumMod val="110000"/>
              </a:schemeClr>
            </a:gs>
            <a:gs pos="100000">
              <a:schemeClr val="phClr">
                <a:tint val="82000"/>
                <a:alpha val="7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00000"/>
              </a:schemeClr>
            </a:gs>
            <a:gs pos="100000">
              <a:schemeClr val="phClr">
                <a:shade val="88000"/>
                <a:lumMod val="88000"/>
              </a:schemeClr>
            </a:gs>
          </a:gsLst>
          <a:lin ang="5400000" scaled="1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5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127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shade val="96000"/>
                <a:hueMod val="100000"/>
                <a:satMod val="180000"/>
                <a:lumMod val="110000"/>
              </a:schemeClr>
            </a:gs>
            <a:gs pos="100000">
              <a:schemeClr val="phClr">
                <a:shade val="96000"/>
                <a:satMod val="160000"/>
                <a:lumMod val="100000"/>
              </a:schemeClr>
            </a:gs>
          </a:gsLst>
          <a:lin ang="4740000" scaled="1"/>
        </a:gradFill>
        <a:blipFill>
          <a:blip xmlns:r="http://schemas.openxmlformats.org/officeDocument/2006/relationships" r:embed="rId1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elestial" id="{C4BB2A3D-0E93-4C5F-B0D2-9D3FCE089CC5}" vid="{42E5908D-19A2-46FD-89FA-638B126129E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Microsoft Office PowerPoint</Application>
  <PresentationFormat>Widescreen</PresentationFormat>
  <Paragraphs>0</Paragraphs>
  <Slides>7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8" baseType="lpstr">
      <vt:lpstr>Celestial</vt:lpstr>
      <vt:lpstr>The Technology Value Stream</vt:lpstr>
      <vt:lpstr>The Technology Value Stream</vt:lpstr>
      <vt:lpstr>The Technology Value Stream (cont.)</vt:lpstr>
      <vt:lpstr>Focus on deployment Lead time</vt:lpstr>
      <vt:lpstr>Lead Time vs. Processing Time</vt:lpstr>
      <vt:lpstr>Deployment Lead Times Stall</vt:lpstr>
      <vt:lpstr>The DevOps Ideal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310</cp:revision>
  <dcterms:created xsi:type="dcterms:W3CDTF">2026-06-07T23:19:53Z</dcterms:created>
  <dcterms:modified xsi:type="dcterms:W3CDTF">2026-06-08T02:14:28Z</dcterms:modified>
</cp:coreProperties>
</file>